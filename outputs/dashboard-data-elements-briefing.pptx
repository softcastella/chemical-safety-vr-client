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C24"/>
                </a:solidFill>
                <a:latin typeface="Malgun Gothic"/>
              </a:rPr>
              <a:t>대시보드 데이터 항목 해설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2412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06C"/>
                </a:solidFill>
                <a:latin typeface="Malgun Gothic"/>
              </a:rPr>
              <a:t>실제 Unity 세션에서 수집되는 값을 기준으로, 한 기록의 연결 관계를 설명합니다.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444752"/>
            <a:ext cx="6391656" cy="0"/>
          </a:xfrm>
          <a:prstGeom prst="line">
            <a:avLst/>
          </a:prstGeom>
          <a:ln w="19050">
            <a:solidFill>
              <a:srgbClr val="2D7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1719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한 기록의 연결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121408"/>
            <a:ext cx="6382512" cy="804672"/>
          </a:xfrm>
          <a:prstGeom prst="roundRect">
            <a:avLst/>
          </a:prstGeom>
          <a:solidFill>
            <a:srgbClr val="E7F4FC"/>
          </a:solidFill>
          <a:ln w="10160">
            <a:solidFill>
              <a:srgbClr val="2D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350008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C24"/>
                </a:solidFill>
                <a:latin typeface="Malgun Gothic"/>
              </a:rPr>
              <a:t>사용자 ID  →  세션  →  모드·시나리오  →  단계  →  PPE  →  결과·시간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33472"/>
            <a:ext cx="5989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5606C"/>
                </a:solidFill>
                <a:latin typeface="Malgun Gothic"/>
              </a:rPr>
              <a:t>같은 sessionId를 기준으로 모든 이벤트를 한 사람의 수행 흐름으로 연결합니다.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3101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01  사용자·세션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35508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C24"/>
                </a:solidFill>
                <a:latin typeface="Malgun Gothic"/>
              </a:rPr>
              <a:t>metaAppScopedUserId   Meta 앱 범위에서 사용자를 구분하는 ID
metaAgeCategory       Meta가 반환한 연령 범주 (현재 테스트에서는 Unknown 가능)
sessionId              한 번의 플레이를 묶는 고유 ID
timestampUtc           각 이벤트가 발생한 시각
session_ended / note   종료 시각과 종료 기록 (예: application_quitting)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5321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02  과정·시나리오·단계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5715000"/>
            <a:ext cx="635508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C24"/>
                </a:solidFill>
                <a:latin typeface="Malgun Gothic"/>
              </a:rPr>
              <a:t>mode                  교육·훈련·테스트 모드
workPlan              선택한 시나리오 (예: LeakResponse)
flowState              현재 진행 단계 또는 상태
단계별 시작·종료 시각   어느 단계에서 얼마나 머물렀는지 확인하는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70591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03  PPE 수행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7452360"/>
            <a:ext cx="635508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C24"/>
                </a:solidFill>
                <a:latin typeface="Malgun Gothic"/>
              </a:rPr>
              <a:t>itemType              실제 PPE 종류 (왼손·오른손 장갑 등 개별 구분)
condition             Clean 또는 Contaminated 상태
검사 이벤트            PPE 검사 시작·종료 및 결과
choice / result        사용 선택과 착용 확인 결과
requiredPpeCheck       시나리오 필수 PPE 목록을 모두 착용했는지 여부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9006840"/>
            <a:ext cx="6382512" cy="84124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9217152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7DCC"/>
                </a:solidFill>
                <a:latin typeface="Malgun Gothic"/>
              </a:rPr>
              <a:t>이 페이지의 핵심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9217152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61C24"/>
                </a:solidFill>
                <a:latin typeface="Malgun Gothic"/>
              </a:rPr>
              <a:t>사용자 ID와 sessionId가 있어야 한 사람의 시나리오·단계·PPE 수행을 하나로 추적할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C24"/>
                </a:solidFill>
                <a:latin typeface="Malgun Gothic"/>
              </a:rPr>
              <a:t>대시보드 데이터 항목 해설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2412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06C"/>
                </a:solidFill>
                <a:latin typeface="Malgun Gothic"/>
              </a:rPr>
              <a:t>시간·음성·필수 장비 상태와, 현재 데이터로 계산 가능한 지표의 범위를 구분합니다.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444752"/>
            <a:ext cx="6391656" cy="0"/>
          </a:xfrm>
          <a:prstGeom prst="line">
            <a:avLst/>
          </a:prstGeom>
          <a:ln w="19050">
            <a:solidFill>
              <a:srgbClr val="2D7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1719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04  필수 PPE·음성·시간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112264"/>
            <a:ext cx="63550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C24"/>
                </a:solidFill>
                <a:latin typeface="Malgun Gothic"/>
              </a:rPr>
              <a:t>missingRequiredPpe     완료되지 않은 필수 PPE 목록
audioClip              재생한 교육 음원
audioLengthSec         음원 전체 길이
audioElapsedSec        실제 재생된 시간
completed / stopped / replaced  끝까지 재생·중단·다른 음원으로 교체된 상태
단계·PPE 소요 시간      각 이벤트의 timestampUtc 차이로 계산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9136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05  현재 데이터로 확인 가능한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4315968"/>
            <a:ext cx="3054096" cy="1874519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55371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7DCC"/>
                </a:solidFill>
                <a:latin typeface="Malgun Gothic"/>
              </a:rPr>
              <a:t>계산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82896"/>
            <a:ext cx="24871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61C24"/>
                </a:solidFill>
                <a:latin typeface="Malgun Gothic"/>
              </a:rPr>
              <a:t>• 시나리오별 완료율
• 중도 종료율
• 단계별 소요 시간
• PPE별 선택·검사 결과
• 음원 완료·중단 현황
• 필수 PPE 누락 여부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4315968"/>
            <a:ext cx="3054096" cy="1874519"/>
          </a:xfrm>
          <a:prstGeom prst="roundRect">
            <a:avLst/>
          </a:prstGeom>
          <a:solidFill>
            <a:srgbClr val="E7F4FC"/>
          </a:solidFill>
          <a:ln w="10160">
            <a:solidFill>
              <a:srgbClr val="2D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7" y="455371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7DCC"/>
                </a:solidFill>
                <a:latin typeface="Malgun Gothic"/>
              </a:rPr>
              <a:t>추가 계측이 필요한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4882896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61C24"/>
                </a:solidFill>
                <a:latin typeface="Malgun Gothic"/>
              </a:rPr>
              <a:t>• 그랩 시도·실패 횟수
• 실패 후 성공까지 걸린 시간
• 컨트롤러 좌·우 입력
• 기존 종료 버튼·EXIT Point 경로 기록
• 음성 스킵 입력 (그랩과 분리)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6019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C24"/>
                </a:solidFill>
                <a:latin typeface="Malgun Gothic"/>
              </a:rPr>
              <a:t>06  문제 신호를 상세 확인하는 방식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7004304"/>
            <a:ext cx="638251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7333488"/>
            <a:ext cx="5925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61C24"/>
                </a:solidFill>
                <a:latin typeface="Malgun Gothic"/>
              </a:rPr>
              <a:t>경고 지표 클릭  →  해당 sessionId 필터  →  시나리오·단계·PPE 이벤트 확인  →  원본 시각·결과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7708392"/>
            <a:ext cx="5925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06C"/>
                </a:solidFill>
                <a:latin typeface="Malgun Gothic"/>
              </a:rPr>
              <a:t>정상 기록도 같은 방식으로 상세 조회되어야 비교와 관리가 가능합니다.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8549640"/>
            <a:ext cx="6382512" cy="98755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879652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7DCC"/>
                </a:solidFill>
                <a:latin typeface="Malgun Gothic"/>
              </a:rPr>
              <a:t>실제 검증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8750808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C24"/>
                </a:solidFill>
                <a:latin typeface="Malgun Gothic"/>
              </a:rPr>
              <a:t>Education · LeakResponse · Meta ID 기록 · 필수 PPE complete 확인
※ EXIT Point는 중도 중단 수단이며, 종료 버튼과 application_quitting은 별도 종료 경로로 기록해야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