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77" r:id="rId8"/>
    <p:sldId id="264" r:id="rId9"/>
    <p:sldId id="265" r:id="rId10"/>
    <p:sldId id="278" r:id="rId11"/>
    <p:sldId id="279" r:id="rId12"/>
    <p:sldId id="266" r:id="rId13"/>
    <p:sldId id="267" r:id="rId14"/>
    <p:sldId id="268" r:id="rId15"/>
    <p:sldId id="270" r:id="rId16"/>
    <p:sldId id="271" r:id="rId17"/>
    <p:sldId id="280" r:id="rId18"/>
    <p:sldId id="281" r:id="rId19"/>
    <p:sldId id="282" r:id="rId20"/>
    <p:sldId id="272" r:id="rId21"/>
    <p:sldId id="273" r:id="rId22"/>
    <p:sldId id="283" r:id="rId23"/>
    <p:sldId id="274" r:id="rId24"/>
    <p:sldId id="275" r:id="rId25"/>
    <p:sldId id="276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2.xml"  /><Relationship Id="rId30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4"/>
          </a:solidFill>
          <a:ln>
            <a:solidFill>
              <a:srgbClr val="09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2468880" cy="246888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743200"/>
            <a:ext cx="1463040" cy="146304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79" y="4297680"/>
            <a:ext cx="1828800" cy="1828800"/>
          </a:xfrm>
          <a:prstGeom prst="ellipse">
            <a:avLst/>
          </a:prstGeom>
          <a:noFill/>
          <a:ln w="15240"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658368"/>
            <a:ext cx="1143000" cy="31089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914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91424"/>
                </a:solidFill>
                <a:latin typeface="Malgun Gothic"/>
              </a:rPr>
              <a:t>VR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7589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4F8FC"/>
                </a:solidFill>
                <a:latin typeface="Malgun Gothic"/>
              </a:rPr>
              <a:t>화학물질 안전훈련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7498079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25D3C6"/>
                </a:solidFill>
                <a:latin typeface="Malgun Gothic"/>
              </a:rPr>
              <a:t>밀폐공간 안전교육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53512"/>
            <a:ext cx="5760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B1C5"/>
                </a:solidFill>
                <a:latin typeface="Malgun Gothic"/>
              </a:rPr>
              <a:t>사전 기획 · 개발 일정 통합 검토본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67912"/>
            <a:ext cx="5394960" cy="1078992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87368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교육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023360"/>
            <a:ext cx="3886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F8FC"/>
                </a:solidFill>
                <a:latin typeface="Malgun Gothic"/>
              </a:rPr>
              <a:t>PPE 점검부터 작업허가 승인까지
직접 수행하는 체험형 안전교육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0807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Unity 6 · OpenXR · Meta Quest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검토 범위와 발표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9344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교육 목적·대상·플레이어 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1645920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963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9631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교육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05456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공통 조작과 2개 시나리오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2542032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9242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39242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체험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401568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PPE → 현장 준비 →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27080" y="3438144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8853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885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개발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프로토타입·보완·QA·발표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7080" y="4334255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1846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8464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관리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193792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5"/>
                </a:solidFill>
                <a:latin typeface="Malgun Gothic"/>
              </a:rPr>
              <a:t>완료 기준·범위 축소 원칙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5230368"/>
            <a:ext cx="228600" cy="2286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9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01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4173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프로젝트명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03704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5"/>
                </a:solidFill>
                <a:latin typeface="Malgun Gothic"/>
              </a:rPr>
              <a:t>화학물질 안전훈련 VR
– 밀폐공간 안전교육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2057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54864" cy="20574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 대상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194560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화학제품 제조공장 생산작업자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혼합기 내부 청소 지정 작업자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신규·정기 안전교육 대상자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474720" cy="2057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54864" cy="20574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746504"/>
            <a:ext cx="30723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현장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194560"/>
            <a:ext cx="3035808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중소규모 화학제품 제조공장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2층 작업대 높이의 혼합기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계단·작업대를 통한 맨홀 접근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931920"/>
            <a:ext cx="10972800" cy="2086169"/>
          </a:xfrm>
          <a:prstGeom prst="roundRect">
            <a:avLst>
              <a:gd name="adj" fmla="val 16667"/>
            </a:avLst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54864" cy="1600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4078224"/>
            <a:ext cx="10570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핵심 수행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526280"/>
            <a:ext cx="10533888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PPE 확인 및 착용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구동 전원 차단·LOTO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1·2차 가스 측정과 환기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통신 확인·작업허가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교육 콘텐츠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PPE룸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시작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조작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시나리오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교육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PPE 착용 교육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점검·판정·착용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현장 이동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씬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02168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준비작업 교육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차단·측정·환기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624328"/>
            <a:ext cx="256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2148840"/>
            <a:ext cx="1627632" cy="1298448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50424" y="23134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2642616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0424" y="3054096"/>
            <a:ext cx="1325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5"/>
                </a:solidFill>
                <a:latin typeface="Malgun Gothic"/>
              </a:rPr>
              <a:t>완료·복귀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6052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8FC"/>
                </a:solidFill>
                <a:latin typeface="Malgun Gothic"/>
              </a:rPr>
              <a:t>두 시나리오는 독립 선택이 가능하지만, 최종 체험은 ‘개인 준비 → 현장 준비 → 승인’의 하나의 안전 행동 흐름으로 연결된다.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5212080"/>
            <a:ext cx="7818120" cy="59436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394960"/>
            <a:ext cx="7360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D3C6"/>
                </a:solidFill>
                <a:latin typeface="Malgun Gothic"/>
              </a:rPr>
              <a:t>설명형 콘텐츠가 아닌 직접 수행형 안전교육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공통 진행·조작 규칙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02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83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레이 선택 · 텔레포트 · 측정 · 송신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82512" y="1764792"/>
            <a:ext cx="1051560" cy="585216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938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GRIP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83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한 번 눌러 잡기 / 다시 눌러 놓기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26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확인 · 다음 페이지 · 대화 종료 · 장비 작동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349240" cy="9144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82512" y="2907792"/>
            <a:ext cx="1051560" cy="585216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08152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91424"/>
                </a:solidFill>
                <a:latin typeface="Malgun Gothic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2666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PPE 교육에서 불량 PPE 폐기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72800" cy="14173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54864" cy="141732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06824"/>
            <a:ext cx="10570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안내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754880"/>
            <a:ext cx="105338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음성 안내방송 + 화면 안내창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큰 원형 위치 마커 / 작은 원형 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완료는 초록 체크, 오류는 빨간 X와 재안내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시나리오 A | PPE 착용 안전교육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작업계획서
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7712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PPE 단스
이동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8184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4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표면 상태
육안점검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85816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22976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사용·폐기
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13448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착용 상태
저장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거울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3536" y="2368296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9DB1C5"/>
                </a:solidFill>
                <a:latin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2011680"/>
            <a:ext cx="1353312" cy="114300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05872" y="2176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D3C6"/>
                </a:solidFill>
                <a:latin typeface="Malgun Gothic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2487168"/>
            <a:ext cx="98755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현장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D3C6"/>
                </a:solidFill>
                <a:latin typeface="Malgun Gothic"/>
              </a:rPr>
              <a:t>필요 PPE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방호복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44368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장화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65776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57216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내화학 장갑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78624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70064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송기마스크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91472" y="4434840"/>
            <a:ext cx="1920240" cy="685800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2911" y="4654296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안전모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5099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정상 PPE만 착용하고, 불량 PPE는 폐기하는 판정 행동을 핵심 학습으로 구성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PPE 시나리오 | 단계별 인터랙션 명세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3258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9344"/>
            <a:ext cx="11795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481328"/>
            <a:ext cx="306324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609344"/>
            <a:ext cx="2916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플레이어 행동 /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481328"/>
            <a:ext cx="224028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6712" y="1609344"/>
            <a:ext cx="20939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완료 조건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81328"/>
            <a:ext cx="3566160" cy="43891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1609344"/>
            <a:ext cx="34198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오류·복구 / 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1993392"/>
            <a:ext cx="18288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112264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작업계획서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993392"/>
            <a:ext cx="32004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2112264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태블릿 그립 → 체크박스 트리거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1993392"/>
            <a:ext cx="237744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112264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전 항목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1993392"/>
            <a:ext cx="356616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1583" y="2112264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미확인 시 진행 차단 / 초록 체크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2651760"/>
            <a:ext cx="18288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2770632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PPE 이동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2651760"/>
            <a:ext cx="32004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2770632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위치 마커 레이 + 트리거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651760"/>
            <a:ext cx="237744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24144" y="2770632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지정 위치·방향 도착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651760"/>
            <a:ext cx="356616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2770632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오배치 방지 / 대상 PPE 마커 활성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310128"/>
            <a:ext cx="18288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429000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육안점검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3310128"/>
            <a:ext cx="32004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3744" y="3429000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PPE 그립 토글 → 손목 회전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310128"/>
            <a:ext cx="237744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24144" y="3429000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표면 상태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3310128"/>
            <a:ext cx="356616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1583" y="3429000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놓치면 원위치 복구 / 선택 패널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087368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사용·폐기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3968496"/>
            <a:ext cx="32004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087368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정상: 트리거, 불량: A → B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3968496"/>
            <a:ext cx="237744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24144" y="4087368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상태와 선택 일치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968496"/>
            <a:ext cx="356616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01583" y="4087368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오답 빨간 X / 재시도·상태 초기화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626864"/>
            <a:ext cx="18288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4745736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착용 처리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626864"/>
            <a:ext cx="320040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4" y="4745736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정상 PPE 사용 확정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4626864"/>
            <a:ext cx="237744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24144" y="4745736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착용 상태 저장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01000" y="4626864"/>
            <a:ext cx="3566160" cy="566928"/>
          </a:xfrm>
          <a:prstGeom prst="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01583" y="4745736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잡기 해제 / 몸 방향 이동·페이드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5285231"/>
            <a:ext cx="18288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5404103"/>
            <a:ext cx="16276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4F8FC"/>
                </a:solidFill>
                <a:latin typeface="Malgun Gothic"/>
              </a:rPr>
              <a:t>거울 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5285231"/>
            <a:ext cx="320040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23744" y="5404103"/>
            <a:ext cx="29992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위치 이동 → 안내 항목 시선 확인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5285231"/>
            <a:ext cx="237744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24144" y="5404103"/>
            <a:ext cx="21762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4F8FC"/>
                </a:solidFill>
                <a:latin typeface="Malgun Gothic"/>
              </a:rPr>
              <a:t>5종 PPE 확인 완료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5285231"/>
            <a:ext cx="3566160" cy="566928"/>
          </a:xfrm>
          <a:prstGeom prst="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01583" y="5404103"/>
            <a:ext cx="336499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1C5"/>
                </a:solidFill>
                <a:latin typeface="Malgun Gothic"/>
              </a:rPr>
              <a:t>거울 종료 / 현장 이동 마커 활성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4–5장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PPE 교육 | 핵심 인터랙션과 피드백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187451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작업계획서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태블릿을 그립으로 잡기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작업내용·필요 PPE 체크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전체 확인 후 다음 단계 활성화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187451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육안점검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PPE를 손에 들고 회전 확인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찢어짐·균열·오염·변색 표현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정상/불량에 따라 사용 또는 폐기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187451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착용·거울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PPE가 몸 방향으로 이동 후 착용 상태 저장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신체 대신 착용 PPE만 표시</a:t>
            </a:r>
          </a:p>
          <a:p>
            <a:pPr>
              <a:spcAft>
                <a:spcPts val="500"/>
              </a:spcAft>
              <a:defRPr sz="1400">
                <a:solidFill>
                  <a:srgbClr val="9DB1C5"/>
                </a:solidFill>
                <a:latin typeface="Malgun Gothic"/>
              </a:defRPr>
            </a:pPr>
            <a:r>
              <a:t>•  거울에서 연결부·표면·안전모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5257800" cy="128016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69663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D3C6"/>
                </a:solidFill>
                <a:latin typeface="Malgun Gothic"/>
              </a:rPr>
              <a:t>✓  올바른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초록 체크 · 완료 SFX · 확인멘트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5303520" cy="128016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169663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6161"/>
                </a:solidFill>
                <a:latin typeface="Malgun Gothic"/>
              </a:rPr>
              <a:t>×  잘못된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빨간 X · 오류 SFX · 재확인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시나리오 B | 밀폐공간 진입 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감시인
최초 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1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안전 문서
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전원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5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5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5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LOTO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2020824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10928" y="1645920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48088" y="1783080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2084832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1차 가스
측정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환기팬·덕트
설치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07791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1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1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75504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2664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4104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2차 가스
측정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43215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0375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1815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7" y="34655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5"/>
                </a:solidFill>
                <a:latin typeface="Malgun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10928" y="3090672"/>
            <a:ext cx="1883664" cy="1033271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3227832"/>
            <a:ext cx="3474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84FF"/>
                </a:solidFill>
                <a:latin typeface="Malgun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3529584"/>
            <a:ext cx="14264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Malgun Gothic"/>
              </a:rPr>
              <a:t>승인·복귀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892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승인 조건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855464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8FC"/>
                </a:solidFill>
                <a:latin typeface="Malgun Gothic"/>
              </a:rPr>
              <a:t>문서 확인 + 전원 차단 + LOTO + 1·2차 가스 측정 + 환기 + 무전 테스트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시나리오 | 문서·전원·LOTO·가스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안전 문서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태블릿 그립 / B로 페이지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마지막 페이지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중복 입력 잠금, 배경 블러 종료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전원 상태 확인 /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표시등·내부 상태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LOTO 선행 차단, 다시 ON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LOTO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자물쇠·태그 그립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지정 위치 설치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오스냅 차단, 설치 후 잡기 비활성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가스측정기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오른손 그립 / 맨홀에서 트리거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측정 조건 4개 충족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거리·단계 확인, 중복 측정 잠금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자동 왼손·호스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측정 시작 시 자동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호스·프로브만 내부 삽입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텔레포트 잠금, 종료 후 손 복원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상·중·하부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5초 게이지 순차 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종합 결과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1·2차 결과 구분, 정상 시 체크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5728" y="60624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5"/>
                </a:solidFill>
                <a:latin typeface="Malgun Gothic"/>
              </a:rPr>
              <a:t>행동 /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606247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5D3C6"/>
                </a:solidFill>
                <a:latin typeface="Malgun Gothic"/>
              </a:rPr>
              <a:t>완료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606247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5"/>
                </a:solidFill>
                <a:latin typeface="Malgun Gothic"/>
              </a:rPr>
              <a:t>오류 방지·복구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시나리오 | 환기·무전·승인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덕트 팬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56362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덕트 끝 그립 → 팬 연결부 스냅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6362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쪽 연결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6362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맨홀 쪽 선행 설치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31136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414016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환기팬 작동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313432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연결 후 B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1343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팬 회전·SFX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31343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반복 B 무시, 승인까지 ON 유지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0944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덕트 맨홀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063239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반대 끝 그립 → 이동 → 스냅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063239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양단 연결 완료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063239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단계별 모델 교체로 물리 오류 축소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30752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13632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환기 게이지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813048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양단 연결 후 자동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130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C145"/>
                </a:solidFill>
                <a:latin typeface="Malgun Gothic"/>
              </a:rPr>
              <a:t>10초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8130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진행 중 다음 단계 차단 / 2차 측정 활성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80560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6634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562856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무전기 그립 → 트리거 송신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628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감시인 응답까지 재생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4562856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중복 송신 잠금, 음성 순차 재생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230368"/>
            <a:ext cx="1572768" cy="640080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312664"/>
            <a:ext cx="2880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감시인 레이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531266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5D3C6"/>
                </a:solidFill>
                <a:latin typeface="Malgun Gothic"/>
              </a:rPr>
              <a:t>7개 승인 조건 충족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73568" y="5312664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미완료 항목 안내 / 도장 1회 실행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6장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① | 문서 확인 · 전원 차단 · 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안전 문서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작업계획서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밀폐공간 작업허가서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MSDS · 작업 절차 · 비상대응 정보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마지막 페이지까지 확인해야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혼합기 전원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혼합기 구동 전원 상태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B 버튼으로 OFF 처리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표시등 소등과 상태값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OFF 이후 재가동 방지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LOTO 설치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전원 OFF 후 자물쇠·태그 활성화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그립 토글로 잡아 지정 위치 스냅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설치 후 재조작 차단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 시 초록 체크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D3C6"/>
                </a:solidFill>
                <a:latin typeface="Malgun Gothic"/>
              </a:rPr>
              <a:t>절차 순서 강제: 문서 확인 → 전원 OFF → LOTO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② | 1·2차 가스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측정기 잡기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오른손 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측정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맨홀 방향에서 트리거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자동 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왼손은 외부, 호스·프로브만 내부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구간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상부·중부·하부 순차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783080"/>
            <a:ext cx="1874519" cy="1874519"/>
          </a:xfrm>
          <a:prstGeom prst="roundRect">
            <a:avLst/>
          </a:prstGeom>
          <a:solidFill>
            <a:srgbClr val="162B42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975104"/>
            <a:ext cx="365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D3C6"/>
                </a:solidFill>
                <a:latin typeface="Malgun Gothi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40487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8529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5"/>
                </a:solidFill>
                <a:latin typeface="Malgun Gothic"/>
              </a:rPr>
              <a:t>5초 게이지 후 정상수치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51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145"/>
                </a:solidFill>
                <a:latin typeface="Malgun Gothic"/>
              </a:rPr>
              <a:t>교육 핵심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10744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4F8FC"/>
                </a:solidFill>
                <a:latin typeface="Malgun Gothic"/>
              </a:rPr>
              <a:t>환기 전 1차 측정과 환기 후 2차 측정을 구분하고, 한 번의 조작으로 상·중·하부 측정 의미를 전달한다.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현장 준비 ③ | 환기 · 통신 · 작업허가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03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52044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환기팬·덕트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팬 쪽 덕트 스냅 후 전원 작동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반대쪽 덕트를 맨홀에 설치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10초 교육용 환기 게이지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준비작업 종료까지 팬 가동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52044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무전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무전기를 잡은 상태에서만 송신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플레이어 → 잡음 → 감시인 순서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중복 입력·음성 겹침 방지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완료 후 승인 단계 활성화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52044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52044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작업허가 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모든 준비 조건 완료 여부 확인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 최종 대화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작업허가서 승인 도장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성공 메시지 후 PPE룸 복귀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전체 개발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07.20–08.09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3619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프로토타입 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544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핵심 시나리오 전체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76856"/>
            <a:ext cx="146304" cy="566928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0008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D3C6"/>
                </a:solidFill>
                <a:latin typeface="Malgun Gothic"/>
              </a:rPr>
              <a:t>08.10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04287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프로토타입 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22575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작동 가능한 수직형 빌드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44952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1810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08.11–08.23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72384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기능 완성·보완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090672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피드백·연출·에셋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13048"/>
            <a:ext cx="146304" cy="566928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84FF"/>
                </a:solidFill>
                <a:latin typeface="Malgun Gothic"/>
              </a:rPr>
              <a:t>08.24–09.06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84048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통합·최적화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85876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Quest 2·문서·안정 빌드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81144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5429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09.07–09.13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608576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QA 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26864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기능·조작·절차 집중 검수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46304" cy="566928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2239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145"/>
                </a:solidFill>
                <a:latin typeface="Malgun Gothic"/>
              </a:rPr>
              <a:t>09.14–09.18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7667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8FC"/>
                </a:solidFill>
                <a:latin typeface="Malgun Gothic"/>
              </a:rPr>
              <a:t>리허설·제출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394959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5"/>
                </a:solidFill>
                <a:latin typeface="Malgun Gothic"/>
              </a:rPr>
              <a:t>발표·시연·최종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프로토타입 3주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6118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1주차 · 07.20–07.26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공통 진행 시스템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레이 UI·위치/아이템 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그립 토글·A/B/트리거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안내창·정답/오답 피드백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61188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2주차 · 07.27–08.02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작업계획서 태블릿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점검·사용·폐기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착용 상태 저장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거울 확인·현장 이동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6118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6118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3주차 · 08.03–08.09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감시인·문서·전원·LOTO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1·2차 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환기팬·덕트·무전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승인·복귀·Quest 2 안정화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6161"/>
                </a:solidFill>
                <a:latin typeface="Malgun Gothic"/>
              </a:rPr>
              <a:t>08.09 신규 기능 추가 금지 → 시연 순서·초기화·입력·빌드 안정성만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1주차 상세 일정 | 공통 시스템 구축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07.20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백업·씬 구조 확인·범위 고정·단계 목록·기존 코드 점검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07.21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카드 연결·상세 오버레이·교육 선택·돌아가기·레이 UI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07.22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위치 마커 프리팹·알파 모션·고정 텔레포트·방향·페이드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07.23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아이템 마커 프리팹·크기 모션·단계별 활성·오브젝트 연동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07.24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그립 토글·트리거·A/B 문맥 기능·씬별 입력 분리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07.25–26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Quest 입력·마커 테스트·UI 오류·안내창·피드백·SFX·백업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D3C6"/>
                </a:solidFill>
                <a:latin typeface="Malgun Gothic"/>
              </a:rPr>
              <a:t>주차 완료 기준  |  시나리오 선택 · 고정 이동 · 현재 대상 마커 · 안정적 그립 토글 · 문맥별 버튼 · 완료/오류 피드백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9-2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2주차 상세 일정 | PPE 착용 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07.27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PPE 시작 단계·작업계획서 태블릿·아이템 마커·그립 토글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07.28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체크박스·체크 애니메이션·전체 확인 판정·오버레이 종료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07.29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PPE 단스 이동·PPE별 마커·잡기/놓기·손안 회전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07.30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사용/폐기/취소 패널·정상/불량 데이터·A/B 판정·오답 복구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07.31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몸 방향 이동·착용 상태 저장·착용 모델·전체 완료 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08.01–02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거울 RT·레이어·성능 검증·전체 플레이·오류 수정·현장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784FF"/>
                </a:solidFill>
                <a:latin typeface="Malgun Gothic"/>
              </a:rPr>
              <a:t>주차 완료 기준  |  문서 확인 → PPE 육안점검 → 정상/불량 판정 → 착용 저장 → 거울 확인 → 현장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9-3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3주차 상세 일정 | 밀폐공간 준비작업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DAILY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8191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08.03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41732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56362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현장 진입·감시인 NPC·최초 대화·목표 안내·문서 태블릿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30552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08.04 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130552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7685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전원 OFF·표시등·LOTO 자물쇠/태그·스냅·완료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843784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00837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08.05 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43784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99008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측정기·트리거·5초 게이지·상중하 UI·1차 측정·호스 우선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57015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21607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08.06 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557015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703320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환기팬 이동·덕트 양단 연결·B 작동·SFX·10초 환기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70248"/>
            <a:ext cx="1417320" cy="557784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43484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08.07 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270248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165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2차 측정·무전 송수신·감시인 보고·승인 도장·복귀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83480"/>
            <a:ext cx="1417320" cy="557784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4807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91424"/>
                </a:solidFill>
                <a:latin typeface="Malgun Gothic"/>
              </a:rPr>
              <a:t>08.08–09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83480"/>
            <a:ext cx="9144000" cy="557784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5129784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Malgun Gothic"/>
              </a:rPr>
              <a:t>신규 기능 중단·통합/입력/씬 전환·Quest 빌드·시연 2회·백업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833872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6161"/>
                </a:solidFill>
                <a:latin typeface="Malgun Gothic"/>
              </a:rPr>
              <a:t>08.07 핵심 기능 완료 → 08.08 전체 통합 → 08.09 시연 빌드 확정 → 08.10 프로토타입 시연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9-4 ·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8월 10일 프로토타입 시연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886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시연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시나리오 선택 → PPE 교육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현장 문서 → OFF → LOTO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가스 측정 → 환기 → 재측정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무전 → 감시인 승인 → 성공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88620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허용되는 임시 요소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임시 안내 음성·문서 이미지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단순화된 자동 손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일부 미완성 VFX·SFX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기본 형태 성공 메시지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88620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88620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반드시 만족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172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처음부터 끝까지 중단 없음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다음 행동을 스스로 이해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조작과 안내 내용 일치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에디터 조작 없이 시연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프로토타입 이후 완성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08.11–08.16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2082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1차 보완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60020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82880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진행 오류·조작 설명·UI·동선·대화 수정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0604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72491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08.17–08.23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02666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2차 완성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60604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83464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PPE 셰이더·거울·자동 손·호스·SFX·승인 연출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3075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08.24–08.30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03250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통합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61188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84048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전체 연결·초기화·복구·중복 방지·전체 플레이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2011680" cy="749808"/>
          </a:xfrm>
          <a:prstGeom prst="roundRect">
            <a:avLst/>
          </a:prstGeom>
          <a:solidFill>
            <a:srgbClr val="0F2034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36592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38344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617720"/>
            <a:ext cx="8641080" cy="749808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846320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Quest 2 성능·오디오·텍스처·문서·스크린샷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C145"/>
                </a:solidFill>
                <a:latin typeface="Malgun Gothic"/>
              </a:rPr>
              <a:t>우선순위: 시나리오 안정성 → 조작 명확성 → Quest 성능 → 시청각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시연 이후 주차별 산출물과 마감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DELIVERY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08176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00200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08.11–16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63624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피드백 반영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99616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진행·입력·UI·동선·대화 오류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49961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수정 빌드 + 피드백 처리표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57984"/>
            <a:ext cx="1371600" cy="621792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50008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08.17–23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13432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D3C6"/>
                </a:solidFill>
                <a:latin typeface="Malgun Gothic"/>
              </a:rPr>
              <a:t>기능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49424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셰이더·거울·자동 손·호스·덕트·SFX·도장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249424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기능 완성 후보 빌드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99815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08.24–30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063239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999232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전체 연결·초기화·오브젝트 복구·SFX/VFX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99232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통합 빌드 + 오류 목록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1371600" cy="621792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9624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08.31–09.06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813048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84FF"/>
                </a:solidFill>
                <a:latin typeface="Malgun Gothic"/>
              </a:rPr>
              <a:t>최적화·문서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749039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거울/그림자/텍스처/오디오·기획/R&amp;D/일정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49039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QA 후보 빌드 + 문서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407408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599432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09.07–13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562856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QA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498848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기능별 QA·전체 반복·회귀·Quest 실기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4498848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최종 후보 빌드 + QA 결과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57216"/>
            <a:ext cx="1371600" cy="621792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5349240"/>
            <a:ext cx="12070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91424"/>
                </a:solidFill>
                <a:latin typeface="Malgun Gothic"/>
              </a:rPr>
              <a:t>09.14–18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5312664"/>
            <a:ext cx="1298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145"/>
                </a:solidFill>
                <a:latin typeface="Malgun Gothic"/>
              </a:rPr>
              <a:t>리허설·제출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248655"/>
            <a:ext cx="48006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4F8FC"/>
                </a:solidFill>
                <a:latin typeface="Malgun Gothic"/>
              </a:rPr>
              <a:t>대본·동선·시간·화면공유·백업 영상·최종 제출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5248655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5"/>
                </a:solidFill>
                <a:latin typeface="Malgun Gothic"/>
              </a:rPr>
              <a:t>발표본 + 실행 빌드 + 제출 패키지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기간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목표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핵심 작업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6016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5"/>
                </a:solidFill>
                <a:latin typeface="Malgun Gothic"/>
              </a:rPr>
              <a:t>검토 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개발 일정 11–15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9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QA · 리허설 · 제출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04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3977639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QA · 09.07–09.13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신규 기능·에셋 추가 금지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진행 불가 → 입력 → 초기화 → 절차 오류 순 수정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기능별 QA 후 전체 반복 플레이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Quest 2 실기 빌드·회귀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3977639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리허설 · 09.14–09.16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발표 대본·예상 질문 정리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VR 시연 동선과 시간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화면 공유·대체 영상 점검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발표 전날 비치명적 수정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3977639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3977639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제출 · 09.17–09.18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26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VR 실행 빌드·기획/설계/R&amp;D 문서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개발 일정·QA 결과·발표자료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시연 또는 백업 영상·에셋 출처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최종 백업과 과정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9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일정 지연 시 범위 조정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06908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반드시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시나리오 진행·입력·마커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문서 확인·PPE 판정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전원 OFF·LOTO·가스 측정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환기·무전·승인·복귀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54864" cy="4069080"/>
          </a:xfrm>
          <a:prstGeom prst="roundRect">
            <a:avLst/>
          </a:prstGeom>
          <a:solidFill>
            <a:srgbClr val="FFC145"/>
          </a:solidFill>
          <a:ln>
            <a:solidFill>
              <a:srgbClr val="FFC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단순화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PPE 손상 셰이더 정밀도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거울 해상도·자동 손 세부 동작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호스 변형·덕트 물리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공기 흐름 VFX·NPC 애니메이션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00200"/>
            <a:ext cx="3429000" cy="406908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54864" cy="4069080"/>
          </a:xfrm>
          <a:prstGeom prst="roundRect">
            <a:avLst/>
          </a:prstGeom>
          <a:solidFill>
            <a:srgbClr val="FF6161"/>
          </a:solidFill>
          <a:ln>
            <a:solidFill>
              <a:srgbClr val="FF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746504"/>
            <a:ext cx="30266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삭제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94560"/>
            <a:ext cx="2990088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장식용 환경 애니메이션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진행과 무관한 오브젝트 조작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불필요한 자유 이동</a:t>
            </a:r>
          </a:p>
          <a:p>
            <a:pPr>
              <a:spcAft>
                <a:spcPts val="500"/>
              </a:spcAft>
              <a:defRPr sz="1500">
                <a:solidFill>
                  <a:srgbClr val="9DB1C5"/>
                </a:solidFill>
                <a:latin typeface="Malgun Gothic"/>
              </a:defRPr>
            </a:pPr>
            <a:r>
              <a:t>•  복잡한 컷신·추가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D3C6"/>
                </a:solidFill>
                <a:latin typeface="Malgun Gothic"/>
              </a:rPr>
              <a:t>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4F8FC"/>
                </a:solidFill>
                <a:latin typeface="Malgun Gothic"/>
              </a:rPr>
              <a:t>완료 기준과 검토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07592"/>
            <a:ext cx="11155680" cy="18288"/>
          </a:xfrm>
          <a:prstGeom prst="rect">
            <a:avLst/>
          </a:prstGeom>
          <a:solidFill>
            <a:srgbClr val="2A4259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274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05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5349240" cy="41605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4864" cy="416052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746504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콘텐츠·진행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4910327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두 교육 시나리오가 처음부터 끝까지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플레이어가 현재·다음 행동을 이해하는가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절차 순서를 건너뛸 수 없도록 제어되는가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입력 중복·오브젝트 유실에서 복구 가능한가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4160520"/>
          </a:xfrm>
          <a:prstGeom prst="roundRect">
            <a:avLst/>
          </a:prstGeom>
          <a:solidFill>
            <a:srgbClr val="162B42"/>
          </a:solidFill>
          <a:ln>
            <a:solidFill>
              <a:srgbClr val="2A4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864" cy="4160520"/>
          </a:xfrm>
          <a:prstGeom prst="roundRect">
            <a:avLst/>
          </a:prstGeom>
          <a:solidFill>
            <a:srgbClr val="3784FF"/>
          </a:solidFill>
          <a:ln>
            <a:solidFill>
              <a:srgbClr val="37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46504"/>
            <a:ext cx="494690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4F8FC"/>
                </a:solidFill>
                <a:latin typeface="Malgun Gothic"/>
              </a:rPr>
              <a:t>교육·기술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94560"/>
            <a:ext cx="4910327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PPE 판정과 착용 결과가 명확한가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가스 측정·환기·통신의 교육 의미가 전달되는가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모든 조건 완료 후에만 승인이 실행되는가</a:t>
            </a:r>
          </a:p>
          <a:p>
            <a:pPr>
              <a:spcAft>
                <a:spcPts val="500"/>
              </a:spcAft>
              <a:defRPr sz="1600">
                <a:solidFill>
                  <a:srgbClr val="9DB1C5"/>
                </a:solidFill>
                <a:latin typeface="Malgun Gothic"/>
              </a:defRPr>
            </a:pPr>
            <a:r>
              <a:t>•  Meta Quest 2에서 안정적으로 작동하는가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5961888"/>
            <a:ext cx="7680960" cy="457200"/>
          </a:xfrm>
          <a:prstGeom prst="roundRect">
            <a:avLst/>
          </a:prstGeom>
          <a:solidFill>
            <a:srgbClr val="25D3C6"/>
          </a:solidFill>
          <a:ln>
            <a:solidFill>
              <a:srgbClr val="25D3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608076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91424"/>
                </a:solidFill>
                <a:latin typeface="Malgun Gothic"/>
              </a:rPr>
              <a:t>검토 의견을 반영해 R&amp;D 상세본과 최종 발표본으로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5"/>
                </a:solidFill>
                <a:latin typeface="Malgun Gothic"/>
              </a:rPr>
              <a:t>사전 기획서 · 개발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B1C5"/>
                </a:solidFill>
                <a:latin typeface="Malgun Gothic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1892</ep:Words>
  <ep:PresentationFormat>On-screen Show (4:3)</ep:PresentationFormat>
  <ep:Paragraphs>835</ep:Paragraphs>
  <ep:Slides>25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ep:HeadingPairs>
  <ep:TitlesOfParts>
    <vt:vector size="2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3D_UI_Test_home 프로젝트</dc:creator>
  <dc:description>generated using python-pptx</dc:description>
  <cp:lastModifiedBy>user</cp:lastModifiedBy>
  <dcterms:modified xsi:type="dcterms:W3CDTF">2026-07-20T09:27:46.578</dcterms:modified>
  <cp:revision>3</cp:revision>
  <dc:subject>사전 기획 및 개발 일정 검토본</dc:subject>
  <dc:title>화학물질 안전훈련 VR – 밀폐공간 안전교육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