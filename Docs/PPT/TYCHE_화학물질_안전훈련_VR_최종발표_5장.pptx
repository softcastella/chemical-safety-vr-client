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12cdc09c234803" /><Relationship Type="http://schemas.openxmlformats.org/officeDocument/2006/relationships/extended-properties" Target="/docProps/app.xml" Id="R91b306bd7b574afd" /><Relationship Type="http://schemas.openxmlformats.org/officeDocument/2006/relationships/officeDocument" Target="/ppt/presentation.xml" Id="R94db86907e5f4f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8261ad472641e2"/>
  </p:sldMasterIdLst>
  <p:notesMasterIdLst>
    <p:notesMasterId xmlns:r="http://schemas.openxmlformats.org/officeDocument/2006/relationships" r:id="Rd7b9ed50e1854b8e"/>
  </p:notesMasterIdLst>
  <p:sldIdLst>
    <p:sldId xmlns:r="http://schemas.openxmlformats.org/officeDocument/2006/relationships" id="256" r:id="Rcafde30a226a487a"/>
    <p:sldId xmlns:r="http://schemas.openxmlformats.org/officeDocument/2006/relationships" id="257" r:id="R34ec6f3b61454761"/>
    <p:sldId xmlns:r="http://schemas.openxmlformats.org/officeDocument/2006/relationships" id="258" r:id="Rf8e51896ea9849f7"/>
    <p:sldId xmlns:r="http://schemas.openxmlformats.org/officeDocument/2006/relationships" id="259" r:id="Rd1e20e3554f14c8b"/>
    <p:sldId xmlns:r="http://schemas.openxmlformats.org/officeDocument/2006/relationships" id="260" r:id="Re214451e3b8444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b9a7d4790a4d40" /><Relationship Type="http://schemas.openxmlformats.org/officeDocument/2006/relationships/slideMaster" Target="/ppt/slideMasters/slideMaster1.xml" Id="R7a8261ad472641e2" /><Relationship Type="http://schemas.openxmlformats.org/officeDocument/2006/relationships/notesMaster" Target="/ppt/notesMasters/notesMaster1.xml" Id="Rd7b9ed50e1854b8e" /><Relationship Type="http://schemas.openxmlformats.org/officeDocument/2006/relationships/presProps" Target="/ppt/presProps.xml" Id="R46821656901f47cd" /><Relationship Type="http://schemas.openxmlformats.org/officeDocument/2006/relationships/tableStyles" Target="/ppt/tableStyles.xml" Id="R3399808fd25b4abd" /><Relationship Type="http://schemas.openxmlformats.org/officeDocument/2006/relationships/slide" Target="/ppt/slides/slide1.xml" Id="Rcafde30a226a487a" /><Relationship Type="http://schemas.openxmlformats.org/officeDocument/2006/relationships/slide" Target="/ppt/slides/slide2.xml" Id="R34ec6f3b61454761" /><Relationship Type="http://schemas.openxmlformats.org/officeDocument/2006/relationships/slide" Target="/ppt/slides/slide3.xml" Id="Rf8e51896ea9849f7" /><Relationship Type="http://schemas.openxmlformats.org/officeDocument/2006/relationships/slide" Target="/ppt/slides/slide4.xml" Id="Rd1e20e3554f14c8b" /><Relationship Type="http://schemas.openxmlformats.org/officeDocument/2006/relationships/slide" Target="/ppt/slides/slide5.xml" Id="Re214451e3b8444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3732ca5ec040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2c343de1f04d4b" /><Relationship Type="http://schemas.openxmlformats.org/officeDocument/2006/relationships/notesMaster" Target="/ppt/notesMasters/notesMaster1.xml" Id="R50e00d8e1b144e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04d0553a654327" /><Relationship Type="http://schemas.openxmlformats.org/officeDocument/2006/relationships/notesMaster" Target="/ppt/notesMasters/notesMaster1.xml" Id="R1a80300337cb48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b568e96fcb45e3" /><Relationship Type="http://schemas.openxmlformats.org/officeDocument/2006/relationships/notesMaster" Target="/ppt/notesMasters/notesMaster1.xml" Id="Ra1df6fbf729a4b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0879422d0c4b64" /><Relationship Type="http://schemas.openxmlformats.org/officeDocument/2006/relationships/notesMaster" Target="/ppt/notesMasters/notesMaster1.xml" Id="R02d404ca2be74e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22f4fc05b040e6" /><Relationship Type="http://schemas.openxmlformats.org/officeDocument/2006/relationships/notesMaster" Target="/ppt/notesMasters/notesMaster1.xml" Id="R6eb8e841140748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현실에서 반복하기 어려운 화학물질 사고 대응을 VR에서 안전하게 훈련하고, 수행 근거를 데이터로 남기는 프로젝트입니다.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asset: C:/Users/user/Documents/Workspace/chemical-safety-vr-server/public/site/assets/vr-hero-hd.jpg</a:t>
            </a:r>
          </a:p>
          <a:p xmlns:a="http://schemas.openxmlformats.org/drawingml/2006/main">
            <a:r>
              <a:t>- Project context: C:/Users/user/Documents/Workspace/chemical-safety-vr-client/AGENTS.md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사용자는 설명을 보는 데 그치지 않고 작업계획을 판단하고, PPE를 검사·착용하며, 평가까지 수행합니다.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Build scenes: C:/Users/user/Documents/Workspace/chemical-safety-vr-client/ProjectSettings/EditorBuildSettings.asset</a:t>
            </a:r>
          </a:p>
          <a:p xmlns:a="http://schemas.openxmlformats.org/drawingml/2006/main">
            <a:r>
              <a:t>- Mode/work-plan basis: C:/Users/user/Documents/Workspace/chemical-safety-vr-client/Docs/MeetingNotes/2026-08-26_PPE_Training_Data_Dashboard_Followup.md</a:t>
            </a:r>
          </a:p>
          <a:p xmlns:a="http://schemas.openxmlformats.org/drawingml/2006/main">
            <a:r>
              <a:t>- Images: ppe_room.png, select_ppe.png, check_work.png under C:/Users/user/Documents/Workspace/chemical-safety-vr-server/public/site/assets/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잘못된 장비나 결함 장비를 구분해야 다음 단계로 진행되도록 설계해, 안전 지식을 실제 행동으로 전환합니다.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Interaction behavior: C:/Users/user/Documents/Workspace/chemical-safety-vr-client/Docs/MeetingNotes/2026-08-27_XR_Startup_PPE_Room_Interaction_Followup.md</a:t>
            </a:r>
          </a:p>
          <a:p xmlns:a="http://schemas.openxmlformats.org/drawingml/2006/main">
            <a:r>
              <a:t>- PPE behavior: C:/Users/user/Documents/Workspace/chemical-safety-vr-client/Assets/Scripts/PPEActionPanelController.cs</a:t>
            </a:r>
          </a:p>
          <a:p xmlns:a="http://schemas.openxmlformats.org/drawingml/2006/main">
            <a:r>
              <a:t>- Images: ppe_check.png and check_ppe.png under C:/Users/user/Documents/Workspace/chemical-safety-vr-server/public/site/assets/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훈련 결과는 완료 여부만 저장하는 것이 아니라 선택, 오답, 소요시간과 조작 문제까지 교육 개선 근거로 남깁니다.</a:t>
            </a:r>
          </a:p>
          <a:p xmlns:a="http://schemas.openxmlformats.org/drawingml/2006/main">
            <a:r>
              <a:t>현재는 클라이언트·서버 원본 계약이 반영됐고, 실제 Quest 6개 조합의 DB·대시보드 종단간 검증이 다음 게이트입니다.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Client telemetry: C:/Users/user/Documents/Workspace/chemical-safety-vr-client/Assets/Scripts/PPETrainingTelemetryCapture.cs</a:t>
            </a:r>
          </a:p>
          <a:p xmlns:a="http://schemas.openxmlformats.org/drawingml/2006/main">
            <a:r>
              <a:t>- Client uploader: C:/Users/user/Documents/Workspace/chemical-safety-vr-client/Assets/Scripts/TycheTrainingTelemetryUploader.cs</a:t>
            </a:r>
          </a:p>
          <a:p xmlns:a="http://schemas.openxmlformats.org/drawingml/2006/main">
            <a:r>
              <a:t>- Server routes: C:/Users/user/Documents/Workspace/chemical-safety-vr-server/src/app.js</a:t>
            </a:r>
          </a:p>
          <a:p xmlns:a="http://schemas.openxmlformats.org/drawingml/2006/main">
            <a:r>
              <a:t>- Server contract: C:/Users/user/Documents/Workspace/chemical-safety-vr-server/src/modules/training-telemetry/training-telemetry-service.js</a:t>
            </a:r>
          </a:p>
          <a:p xmlns:a="http://schemas.openxmlformats.org/drawingml/2006/main">
            <a:r>
              <a:t>- Validation boundary: C:/Users/user/Documents/Workspace/chemical-safety-vr-client/Docs/MeetingNotes/2026-08-26_PPE_Training_Data_Dashboard_Followup.md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핵심 VR 흐름과 원본 계측 계약은 확보했습니다. 다음 단계는 실제 Quest에서 여섯 조합을 수행해 서버 DB와 운영 대시보드까지 이어지는지 검증하는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Enabled scenes: C:/Users/user/Documents/Workspace/chemical-safety-vr-client/ProjectSettings/EditorBuildSettings.asset</a:t>
            </a:r>
          </a:p>
          <a:p xmlns:a="http://schemas.openxmlformats.org/drawingml/2006/main">
            <a:r>
              <a:t>- Current validation and remaining manual checks: C:/Users/user/Documents/Workspace/chemical-safety-vr-client/Docs/MeetingNotes/2026-08-26_PPE_Training_Data_Dashboard_Followup.md</a:t>
            </a:r>
          </a:p>
          <a:p xmlns:a="http://schemas.openxmlformats.org/drawingml/2006/main">
            <a:r>
              <a:t>- Quest/APK boundary: C:/Users/user/Documents/Workspace/chemical-safety-vr-client/Docs/Bug/2026-08-31_Quest_APK_2D_Panel_Manifest.md</a:t>
            </a:r>
          </a:p>
          <a:p xmlns:a="http://schemas.openxmlformats.org/drawingml/2006/main">
            <a:r>
              <a:t>- Server implementation overview: C:/Users/user/Documents/Workspace/chemical-safety-vr-server/README.md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51d0412024c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d376b526b9420b" /><Relationship Type="http://schemas.openxmlformats.org/officeDocument/2006/relationships/slideLayout" Target="/ppt/slideLayouts/slideLayout1.xml" Id="Rfd1f7be58b294e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1f7be58b294e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16d03bbb14aca" /><Relationship Type="http://schemas.openxmlformats.org/officeDocument/2006/relationships/image" Target="/ppt/media/image.jpeg" Id="R2e8cfb44fe164158" /><Relationship Type="http://schemas.openxmlformats.org/officeDocument/2006/relationships/notesSlide" Target="/ppt/notesSlides/notesSlide1.xml" Id="Raab33a470c3248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00e098a65405d" /><Relationship Type="http://schemas.openxmlformats.org/officeDocument/2006/relationships/image" Target="/ppt/media/image.png" Id="Re81f793972ef4c51" /><Relationship Type="http://schemas.openxmlformats.org/officeDocument/2006/relationships/image" Target="/ppt/media/image2.png" Id="R6b9a56c38c434758" /><Relationship Type="http://schemas.openxmlformats.org/officeDocument/2006/relationships/image" Target="/ppt/media/image3.png" Id="R9bbb108b815c4b1a" /><Relationship Type="http://schemas.openxmlformats.org/officeDocument/2006/relationships/notesSlide" Target="/ppt/notesSlides/notesSlide2.xml" Id="R2e267782b00740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309dcc95c4614" /><Relationship Type="http://schemas.openxmlformats.org/officeDocument/2006/relationships/image" Target="/ppt/media/image4.png" Id="R54c7ec36bc5844a5" /><Relationship Type="http://schemas.openxmlformats.org/officeDocument/2006/relationships/image" Target="/ppt/media/image5.png" Id="R3b8c811d5aec45a2" /><Relationship Type="http://schemas.openxmlformats.org/officeDocument/2006/relationships/notesSlide" Target="/ppt/notesSlides/notesSlide3.xml" Id="Rdace19e8534c4a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d8ee876294844" /><Relationship Type="http://schemas.openxmlformats.org/officeDocument/2006/relationships/notesSlide" Target="/ppt/notesSlides/notesSlide4.xml" Id="Re1c18c6f349b46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e9294b47b4ec1" /><Relationship Type="http://schemas.openxmlformats.org/officeDocument/2006/relationships/notesSlide" Target="/ppt/notesSlides/notesSlide5.xml" Id="Ra309e8a405604f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E56F2-581E-4C00-9D42-983CD1A7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5DEB1DD-93EA-416D-A111-AC8BFB23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TYCHE  |  FINAL PRESENTATION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371980B-752B-491E-881E-20C6A8B4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화학물질 안전훈련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VR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E025BCB-D173-4E7D-ADD2-F69584F0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5000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위험한 작업을 안전하게 반복하고,</a:t>
            </a:r>
          </a:p>
          <a:p xmlns:a="http://schemas.openxmlformats.org/drawingml/2006/main">
            <a:pPr algn="l">
              <a:defRPr sz="2025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수행을 데이터로 남기다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D19FA-9FF7-4EC6-90FC-6EB40F00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815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odes">
            <a:extLst xmlns:a="http://schemas.openxmlformats.org/drawingml/2006/main">
              <a:ext uri="{FF2B5EF4-FFF2-40B4-BE49-F238E27FC236}">
                <a16:creationId xmlns:a16="http://schemas.microsoft.com/office/drawing/2014/main" id="{D3AD4B04-D2A1-49DF-9C85-C25E56AA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rPr>
              <a:t>TRAIN  ·  PRACTICE  · 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221B8-B47C-4F49-8AB7-4F05FD71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"/>
            <a:ext cx="5467350" cy="5619750"/>
          </a:xfrm>
          <a:prstGeom xmlns:a="http://schemas.openxmlformats.org/drawingml/2006/main" prst="roundRect">
            <a:avLst>
              <a:gd name="adj" fmla="val 31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cfb44fe164158"/>
          <a:srcRect xmlns:a="http://schemas.openxmlformats.org/drawingml/2006/main" l="0" t="8863" r="0" b="88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95300"/>
            <a:ext cx="5429250" cy="558165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9" name="cover-page">
            <a:extLst xmlns:a="http://schemas.openxmlformats.org/drawingml/2006/main">
              <a:ext uri="{FF2B5EF4-FFF2-40B4-BE49-F238E27FC236}">
                <a16:creationId xmlns:a16="http://schemas.microsoft.com/office/drawing/2014/main" id="{6FD85039-39CC-4714-A561-73696DAF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11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517A5C09-0AA5-40DC-9288-FBA6B4AD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교육·훈련·평가를 하나의 VR 공간에서 완성한다</a:t>
            </a:r>
          </a:p>
        </p:txBody>
      </p:sp>
      <p:sp>
        <p:nvSpPr>
          <p:cNvPr id="2" name="experience-subtitle">
            <a:extLst xmlns:a="http://schemas.openxmlformats.org/drawingml/2006/main">
              <a:ext uri="{FF2B5EF4-FFF2-40B4-BE49-F238E27FC236}">
                <a16:creationId xmlns:a16="http://schemas.microsoft.com/office/drawing/2014/main" id="{9F2817A0-3A97-4AE0-A2C5-A1974231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rPr>
              <a:t>작업계획 2종 × 학습모드 3종, 총 6개 수행 조합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D1C8A-37D1-49C6-B55D-FA685C7D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3562350" cy="26574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f793972ef4c51"/>
          <a:srcRect xmlns:a="http://schemas.openxmlformats.org/drawingml/2006/main" l="12159" t="0" r="12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562100"/>
            <a:ext cx="3524250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7F6C1-A0AF-464A-85E0-8F1FD25E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43050"/>
            <a:ext cx="3562350" cy="26574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a56c38c434758"/>
          <a:srcRect xmlns:a="http://schemas.openxmlformats.org/drawingml/2006/main" l="12159" t="0" r="12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562100"/>
            <a:ext cx="3524250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CE6DB-4095-453F-B419-6A6D0C43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43050"/>
            <a:ext cx="3562350" cy="26574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b108b815c4b1a"/>
          <a:srcRect xmlns:a="http://schemas.openxmlformats.org/drawingml/2006/main" l="12159" t="0" r="12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1562100"/>
            <a:ext cx="3524250" cy="2619375"/>
          </a:xfrm>
          <a:prstGeom xmlns:a="http://schemas.openxmlformats.org/drawingml/2006/main" prst="roundRect">
            <a:avLst>
              <a:gd name="adj" fmla="val 5818"/>
            </a:avLst>
          </a:prstGeom>
        </p:spPr>
      </p:pic>
      <p:sp>
        <p:nvSpPr>
          <p:cNvPr id="9" name="stage-01">
            <a:extLst xmlns:a="http://schemas.openxmlformats.org/drawingml/2006/main">
              <a:ext uri="{FF2B5EF4-FFF2-40B4-BE49-F238E27FC236}">
                <a16:creationId xmlns:a16="http://schemas.microsoft.com/office/drawing/2014/main" id="{F479847E-55D2-46A1-A6BB-68753428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stage-head-01">
            <a:extLst xmlns:a="http://schemas.openxmlformats.org/drawingml/2006/main">
              <a:ext uri="{FF2B5EF4-FFF2-40B4-BE49-F238E27FC236}">
                <a16:creationId xmlns:a16="http://schemas.microsoft.com/office/drawing/2014/main" id="{E1B013ED-50E5-42AC-9C70-3327C0F4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434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B3D13-206A-4DC6-BD9D-E98262F8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body-01">
            <a:extLst xmlns:a="http://schemas.openxmlformats.org/drawingml/2006/main">
              <a:ext uri="{FF2B5EF4-FFF2-40B4-BE49-F238E27FC236}">
                <a16:creationId xmlns:a16="http://schemas.microsoft.com/office/drawing/2014/main" id="{536476CF-4595-4923-A23A-EB9C0099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밀폐공간·누출대응 작업계획을 선택한다</a:t>
            </a:r>
          </a:p>
        </p:txBody>
      </p:sp>
      <p:sp>
        <p:nvSpPr>
          <p:cNvPr id="13" name="stage-02">
            <a:extLst xmlns:a="http://schemas.openxmlformats.org/drawingml/2006/main">
              <a:ext uri="{FF2B5EF4-FFF2-40B4-BE49-F238E27FC236}">
                <a16:creationId xmlns:a16="http://schemas.microsoft.com/office/drawing/2014/main" id="{409A564B-10B3-48F8-85B8-F18580E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91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stage-head-02">
            <a:extLst xmlns:a="http://schemas.openxmlformats.org/drawingml/2006/main">
              <a:ext uri="{FF2B5EF4-FFF2-40B4-BE49-F238E27FC236}">
                <a16:creationId xmlns:a16="http://schemas.microsoft.com/office/drawing/2014/main" id="{2C126EE8-7186-4DA5-B7F6-A53E6E2B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5434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EA7C8-F14D-4E96-8C1C-3307FF3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5777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body-02">
            <a:extLst xmlns:a="http://schemas.openxmlformats.org/drawingml/2006/main">
              <a:ext uri="{FF2B5EF4-FFF2-40B4-BE49-F238E27FC236}">
                <a16:creationId xmlns:a16="http://schemas.microsoft.com/office/drawing/2014/main" id="{46251163-B903-4518-9DE3-330E5B87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PPE를 검사하고 직접 잡아 착용한다</a:t>
            </a:r>
          </a:p>
        </p:txBody>
      </p:sp>
      <p:sp>
        <p:nvSpPr>
          <p:cNvPr id="17" name="stage-03">
            <a:extLst xmlns:a="http://schemas.openxmlformats.org/drawingml/2006/main">
              <a:ext uri="{FF2B5EF4-FFF2-40B4-BE49-F238E27FC236}">
                <a16:creationId xmlns:a16="http://schemas.microsoft.com/office/drawing/2014/main" id="{3FEF9950-E530-4FE4-85D0-48A6DED4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stage-head-03">
            <a:extLst xmlns:a="http://schemas.openxmlformats.org/drawingml/2006/main">
              <a:ext uri="{FF2B5EF4-FFF2-40B4-BE49-F238E27FC236}">
                <a16:creationId xmlns:a16="http://schemas.microsoft.com/office/drawing/2014/main" id="{DB1E7A96-9C1F-4499-85BC-BCCBBD5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434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CD7D2-74FF-48F9-84B0-B13E172A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5777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body-03">
            <a:extLst xmlns:a="http://schemas.openxmlformats.org/drawingml/2006/main">
              <a:ext uri="{FF2B5EF4-FFF2-40B4-BE49-F238E27FC236}">
                <a16:creationId xmlns:a16="http://schemas.microsoft.com/office/drawing/2014/main" id="{112CE679-AB34-4C38-A649-A72937C9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태블릿 확인과 퀴즈로 수행을 마무리한다</a:t>
            </a:r>
          </a:p>
        </p:txBody>
      </p:sp>
      <p:sp>
        <p:nvSpPr>
          <p:cNvPr id="21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207A126-9ECC-460B-934C-2BBA2857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TYCHE CHEMICAL SAFETY TRAINING</a:t>
            </a:r>
          </a:p>
        </p:txBody>
      </p:sp>
      <p:sp>
        <p:nvSpPr>
          <p:cNvPr id="2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C629692-D212-4894-A4C1-1CBEC930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91995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interaction-title">
            <a:extLst xmlns:a="http://schemas.openxmlformats.org/drawingml/2006/main">
              <a:ext uri="{FF2B5EF4-FFF2-40B4-BE49-F238E27FC236}">
                <a16:creationId xmlns:a16="http://schemas.microsoft.com/office/drawing/2014/main" id="{75A10808-56CF-4404-89E8-3382366D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안전 지식을 실제 판단과 행동으로 바꾼다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822F6-1FB3-4CAD-A042-633EEE6E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5848350" cy="4657725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7ec36bc5844a5"/>
          <a:srcRect xmlns:a="http://schemas.openxmlformats.org/drawingml/2006/main" l="14527" t="0" r="145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81125"/>
            <a:ext cx="5810250" cy="4619625"/>
          </a:xfrm>
          <a:prstGeom xmlns:a="http://schemas.openxmlformats.org/drawingml/2006/main" prst="roundRect">
            <a:avLst>
              <a:gd name="adj" fmla="val 329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7679E-E17C-4F60-8599-794B82C8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62075"/>
            <a:ext cx="4895850" cy="237172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c811d5aec45a2"/>
          <a:srcRect xmlns:a="http://schemas.openxmlformats.org/drawingml/2006/main" l="0" t="7298" r="0" b="7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381125"/>
            <a:ext cx="4857750" cy="2333625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4FD8A-C148-418A-905A-E1186B75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86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teraction-number-1">
            <a:extLst xmlns:a="http://schemas.openxmlformats.org/drawingml/2006/main">
              <a:ext uri="{FF2B5EF4-FFF2-40B4-BE49-F238E27FC236}">
                <a16:creationId xmlns:a16="http://schemas.microsoft.com/office/drawing/2014/main" id="{50351DB3-439E-40B9-9CF9-26F6246F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interaction-head-1">
            <a:extLst xmlns:a="http://schemas.openxmlformats.org/drawingml/2006/main">
              <a:ext uri="{FF2B5EF4-FFF2-40B4-BE49-F238E27FC236}">
                <a16:creationId xmlns:a16="http://schemas.microsoft.com/office/drawing/2014/main" id="{655CD86D-5DD6-4B4F-94AE-B3C83082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671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근접 상호작용</a:t>
            </a:r>
          </a:p>
        </p:txBody>
      </p:sp>
      <p:sp>
        <p:nvSpPr>
          <p:cNvPr id="9" name="interaction-body-1">
            <a:extLst xmlns:a="http://schemas.openxmlformats.org/drawingml/2006/main">
              <a:ext uri="{FF2B5EF4-FFF2-40B4-BE49-F238E27FC236}">
                <a16:creationId xmlns:a16="http://schemas.microsoft.com/office/drawing/2014/main" id="{A617673E-E41D-4559-9D64-A80EA04F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862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손으로 가까이 잡아 장비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A4992-8340-44C9-86C2-C8340961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52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2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eraction-number-2">
            <a:extLst xmlns:a="http://schemas.openxmlformats.org/drawingml/2006/main">
              <a:ext uri="{FF2B5EF4-FFF2-40B4-BE49-F238E27FC236}">
                <a16:creationId xmlns:a16="http://schemas.microsoft.com/office/drawing/2014/main" id="{ED6C2331-F6D2-4C2A-B8BA-4BD6C15A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720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interaction-head-2">
            <a:extLst xmlns:a="http://schemas.openxmlformats.org/drawingml/2006/main">
              <a:ext uri="{FF2B5EF4-FFF2-40B4-BE49-F238E27FC236}">
                <a16:creationId xmlns:a16="http://schemas.microsoft.com/office/drawing/2014/main" id="{E11A5233-8491-4354-AD78-6F53D196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33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결함·오염 판별</a:t>
            </a:r>
          </a:p>
        </p:txBody>
      </p:sp>
      <p:sp>
        <p:nvSpPr>
          <p:cNvPr id="13" name="interaction-body-2">
            <a:extLst xmlns:a="http://schemas.openxmlformats.org/drawingml/2006/main">
              <a:ext uri="{FF2B5EF4-FFF2-40B4-BE49-F238E27FC236}">
                <a16:creationId xmlns:a16="http://schemas.microsoft.com/office/drawing/2014/main" id="{EBD85E95-613D-4A90-A5F6-1CFD46AD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52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정상 장비와 부적합 장비를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D8B26-882C-46EE-AA90-D32FC68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19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action-number-3">
            <a:extLst xmlns:a="http://schemas.openxmlformats.org/drawingml/2006/main">
              <a:ext uri="{FF2B5EF4-FFF2-40B4-BE49-F238E27FC236}">
                <a16:creationId xmlns:a16="http://schemas.microsoft.com/office/drawing/2014/main" id="{90BCD461-FCC8-4336-9043-BE93A70E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387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interaction-head-3">
            <a:extLst xmlns:a="http://schemas.openxmlformats.org/drawingml/2006/main">
              <a:ext uri="{FF2B5EF4-FFF2-40B4-BE49-F238E27FC236}">
                <a16:creationId xmlns:a16="http://schemas.microsoft.com/office/drawing/2014/main" id="{A3B237BA-3D62-4DF3-987E-8D390852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006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작업계획 검증</a:t>
            </a:r>
          </a:p>
        </p:txBody>
      </p:sp>
      <p:sp>
        <p:nvSpPr>
          <p:cNvPr id="17" name="interaction-body-3">
            <a:extLst xmlns:a="http://schemas.openxmlformats.org/drawingml/2006/main">
              <a:ext uri="{FF2B5EF4-FFF2-40B4-BE49-F238E27FC236}">
                <a16:creationId xmlns:a16="http://schemas.microsoft.com/office/drawing/2014/main" id="{51375A82-46B9-49DB-9284-D786FBB2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97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필수 PPE 불일치 시 착용을 거절</a:t>
            </a:r>
          </a:p>
        </p:txBody>
      </p:sp>
      <p:sp>
        <p:nvSpPr>
          <p:cNvPr id="18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68AF3499-2DA6-45EF-ABC6-3A33B8C8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TYCHE CHEMICAL SAFETY TRAINING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C03CD71-56E7-419C-B2B7-9B1EDE00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200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data-title">
            <a:extLst xmlns:a="http://schemas.openxmlformats.org/drawingml/2006/main">
              <a:ext uri="{FF2B5EF4-FFF2-40B4-BE49-F238E27FC236}">
                <a16:creationId xmlns:a16="http://schemas.microsoft.com/office/drawing/2014/main" id="{27373392-C597-4EC3-9D37-A72C61A5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훈련 행동은 조직의 교육 개선 데이터가 된다</a:t>
            </a:r>
          </a:p>
        </p:txBody>
      </p:sp>
      <p:sp>
        <p:nvSpPr>
          <p:cNvPr id="2" name="data-subtitle">
            <a:extLst xmlns:a="http://schemas.openxmlformats.org/drawingml/2006/main">
              <a:ext uri="{FF2B5EF4-FFF2-40B4-BE49-F238E27FC236}">
                <a16:creationId xmlns:a16="http://schemas.microsoft.com/office/drawing/2014/main" id="{50CDDCC8-E29B-4E3F-AC77-E15CDC50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모드 시작부터 문항 정오·PPE 오답·완료시간까지 같은 실행 단위로 연결</a:t>
            </a:r>
          </a:p>
        </p:txBody>
      </p:sp>
      <p:cxnSp>
        <p:nvCxnSpPr>
          <p:cNvPr id="33" name="pipeline-connector"/>
          <p:cNvCxnSpPr/>
          <p:nvPr/>
        </p:nvCxnSpPr>
        <p:spPr>
          <a:xfrm xmlns:a="http://schemas.openxmlformats.org/drawingml/2006/main">
            <a:off x="1657350" y="2819400"/>
            <a:ext cx="8286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7C9D3"/>
            </a:solidFill>
            <a:prstDash val="solid"/>
          </a:ln>
        </p:spPr>
      </p:cxnSp>
      <p:sp>
        <p:nvSpPr>
          <p:cNvPr id="4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630A8F4E-D85D-4453-B809-FF20D33C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40005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sp>
        <p:nvSpPr>
          <p:cNvPr id="5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70083CF8-DCAB-4A47-A13E-D91A2D2F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40005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sp>
        <p:nvSpPr>
          <p:cNvPr id="6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67C9AF2C-C295-4C69-B901-06F13983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40005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7C9D3"/>
            </a:solidFill>
            <a:prstDash val="solid"/>
          </a:ln>
        </p:spPr>
      </p:sp>
      <p:sp>
        <p:nvSpPr>
          <p:cNvPr id="7" name="pipeline-node-1">
            <a:extLst xmlns:a="http://schemas.openxmlformats.org/drawingml/2006/main">
              <a:ext uri="{FF2B5EF4-FFF2-40B4-BE49-F238E27FC236}">
                <a16:creationId xmlns:a16="http://schemas.microsoft.com/office/drawing/2014/main" id="{E441DB28-6EF3-465A-9731-3E837803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9B4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89F35B6C-605F-482C-A6A6-8C4478A1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3175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pipeline-head-1">
            <a:extLst xmlns:a="http://schemas.openxmlformats.org/drawingml/2006/main">
              <a:ext uri="{FF2B5EF4-FFF2-40B4-BE49-F238E27FC236}">
                <a16:creationId xmlns:a16="http://schemas.microsoft.com/office/drawing/2014/main" id="{A0E56902-0B46-4A3A-9BD9-AF745328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Quest Client</a:t>
            </a:r>
          </a:p>
        </p:txBody>
      </p:sp>
      <p:sp>
        <p:nvSpPr>
          <p:cNvPr id="10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BF3E39BD-A64A-4EE3-BA05-BA253857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행동·음성·평가 이벤트 기록</a:t>
            </a:r>
          </a:p>
        </p:txBody>
      </p:sp>
      <p:sp>
        <p:nvSpPr>
          <p:cNvPr id="11" name="pipeline-node-2">
            <a:extLst xmlns:a="http://schemas.openxmlformats.org/drawingml/2006/main">
              <a:ext uri="{FF2B5EF4-FFF2-40B4-BE49-F238E27FC236}">
                <a16:creationId xmlns:a16="http://schemas.microsoft.com/office/drawing/2014/main" id="{3E8CCDD0-BE5A-4710-BC54-8842471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050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7C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DED7A105-88C6-4B47-91F7-CD5F0A6C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43175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pipeline-head-2">
            <a:extLst xmlns:a="http://schemas.openxmlformats.org/drawingml/2006/main">
              <a:ext uri="{FF2B5EF4-FFF2-40B4-BE49-F238E27FC236}">
                <a16:creationId xmlns:a16="http://schemas.microsoft.com/office/drawing/2014/main" id="{D471056B-1380-421E-839E-C5D357C6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JSONL · Queue</a:t>
            </a:r>
          </a:p>
        </p:txBody>
      </p:sp>
      <p:sp>
        <p:nvSpPr>
          <p:cNvPr id="14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B9DF9137-5DF7-4DB8-A0C3-E164BAEB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오프라인 보존과 재전송</a:t>
            </a:r>
          </a:p>
        </p:txBody>
      </p:sp>
      <p:sp>
        <p:nvSpPr>
          <p:cNvPr id="15" name="pipeline-node-3">
            <a:extLst xmlns:a="http://schemas.openxmlformats.org/drawingml/2006/main">
              <a:ext uri="{FF2B5EF4-FFF2-40B4-BE49-F238E27FC236}">
                <a16:creationId xmlns:a16="http://schemas.microsoft.com/office/drawing/2014/main" id="{5AD1651D-0C0F-4B72-B5EA-989DD89C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8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61D00257-E554-4034-A3C6-B04EB169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pipeline-head-3">
            <a:extLst xmlns:a="http://schemas.openxmlformats.org/drawingml/2006/main">
              <a:ext uri="{FF2B5EF4-FFF2-40B4-BE49-F238E27FC236}">
                <a16:creationId xmlns:a16="http://schemas.microsoft.com/office/drawing/2014/main" id="{73D314CF-A7F3-4561-BD7E-F256286B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Express · MySQL</a:t>
            </a:r>
          </a:p>
        </p:txBody>
      </p:sp>
      <p:sp>
        <p:nvSpPr>
          <p:cNvPr id="18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1D6B9F64-8BC9-4936-8F0D-6B19FEF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세션·이벤트 수신 및 조회</a:t>
            </a:r>
          </a:p>
        </p:txBody>
      </p:sp>
      <p:sp>
        <p:nvSpPr>
          <p:cNvPr id="19" name="pipeline-node-4">
            <a:extLst xmlns:a="http://schemas.openxmlformats.org/drawingml/2006/main">
              <a:ext uri="{FF2B5EF4-FFF2-40B4-BE49-F238E27FC236}">
                <a16:creationId xmlns:a16="http://schemas.microsoft.com/office/drawing/2014/main" id="{74D1497F-AE33-4651-BF34-52B02ED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243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0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0F79007B-8B4F-4CE2-8D31-1CC54739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43175"/>
            <a:ext cx="102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pipeline-head-4">
            <a:extLst xmlns:a="http://schemas.openxmlformats.org/drawingml/2006/main">
              <a:ext uri="{FF2B5EF4-FFF2-40B4-BE49-F238E27FC236}">
                <a16:creationId xmlns:a16="http://schemas.microsoft.com/office/drawing/2014/main" id="{3B05D0BB-AC03-4F22-9376-FF102F9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운영 대시보드</a:t>
            </a:r>
          </a:p>
        </p:txBody>
      </p:sp>
      <p:sp>
        <p:nvSpPr>
          <p:cNvPr id="22" name="pipeline-body-4">
            <a:extLst xmlns:a="http://schemas.openxmlformats.org/drawingml/2006/main">
              <a:ext uri="{FF2B5EF4-FFF2-40B4-BE49-F238E27FC236}">
                <a16:creationId xmlns:a16="http://schemas.microsoft.com/office/drawing/2014/main" id="{5AA7E4EB-F521-459D-B91D-5575CDFC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교육 운영·UX 개선 근거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A60BB-49B6-4E30-AD08-6E717174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ipeline-current-label">
            <a:extLst xmlns:a="http://schemas.openxmlformats.org/drawingml/2006/main">
              <a:ext uri="{FF2B5EF4-FFF2-40B4-BE49-F238E27FC236}">
                <a16:creationId xmlns:a16="http://schemas.microsoft.com/office/drawing/2014/main" id="{6FFA2287-151B-4666-8D79-157EF1D5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rPr>
              <a:t>현재</a:t>
            </a:r>
          </a:p>
        </p:txBody>
      </p:sp>
      <p:sp>
        <p:nvSpPr>
          <p:cNvPr id="25" name="pipeline-current">
            <a:extLst xmlns:a="http://schemas.openxmlformats.org/drawingml/2006/main">
              <a:ext uri="{FF2B5EF4-FFF2-40B4-BE49-F238E27FC236}">
                <a16:creationId xmlns:a16="http://schemas.microsoft.com/office/drawing/2014/main" id="{D7BC320E-A2B8-4DC3-BB52-1BB5209F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클라이언트·서버 원본 계약 반영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85A1A-3087-4329-88CF-7D93DE56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292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ipeline-next-label">
            <a:extLst xmlns:a="http://schemas.openxmlformats.org/drawingml/2006/main">
              <a:ext uri="{FF2B5EF4-FFF2-40B4-BE49-F238E27FC236}">
                <a16:creationId xmlns:a16="http://schemas.microsoft.com/office/drawing/2014/main" id="{90A505A5-F22F-438F-970A-EC75ACDE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79B4"/>
                </a:solidFill>
                <a:latin typeface="Malgun Gothic"/>
                <a:ea typeface="Malgun Gothic"/>
                <a:cs typeface="Malgun Gothic"/>
              </a:rPr>
              <a:t>다음 검증</a:t>
            </a:r>
          </a:p>
        </p:txBody>
      </p:sp>
      <p:sp>
        <p:nvSpPr>
          <p:cNvPr id="28" name="pipeline-next">
            <a:extLst xmlns:a="http://schemas.openxmlformats.org/drawingml/2006/main">
              <a:ext uri="{FF2B5EF4-FFF2-40B4-BE49-F238E27FC236}">
                <a16:creationId xmlns:a16="http://schemas.microsoft.com/office/drawing/2014/main" id="{61E0E41A-F718-4C05-B1AA-8AB37C68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435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Quest → DB → 대시보드 6개 조합 통합 실행</a:t>
            </a:r>
          </a:p>
        </p:txBody>
      </p:sp>
      <p:sp>
        <p:nvSpPr>
          <p:cNvPr id="29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326FA676-1F93-45D0-9ACA-EDBC0928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TYCHE CHEMICAL SAFETY TRAINING</a:t>
            </a:r>
          </a:p>
        </p:txBody>
      </p:sp>
      <p:sp>
        <p:nvSpPr>
          <p:cNvPr id="3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BD9080FD-B10E-4B7F-B974-C5D1F62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440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FBE1397-716E-4C0C-9AA3-DF840E19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프로토타입을 운영 가능한 제품으로 확장한다</a:t>
            </a:r>
          </a:p>
        </p:txBody>
      </p:sp>
      <p:sp>
        <p:nvSpPr>
          <p:cNvPr id="2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0B849196-B11D-4E8D-9759-987BA861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현재 확보한 범위와 다음 검증 게이트를 명확히 분리했습니다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38CA5-A36B-40AF-B298-1B113E41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6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1BBB-9652-41E6-82AA-72A4E831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71650"/>
            <a:ext cx="762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2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current-en">
            <a:extLst xmlns:a="http://schemas.openxmlformats.org/drawingml/2006/main">
              <a:ext uri="{FF2B5EF4-FFF2-40B4-BE49-F238E27FC236}">
                <a16:creationId xmlns:a16="http://schemas.microsoft.com/office/drawing/2014/main" id="{C65F4C34-42D7-4F70-A050-25ABC5AE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A88A"/>
                </a:solidFill>
                <a:latin typeface="Malgun Gothic"/>
                <a:ea typeface="Malgun Gothic"/>
                <a:cs typeface="Malgun Gothic"/>
              </a:rPr>
              <a:t>CURRENT</a:t>
            </a:r>
          </a:p>
        </p:txBody>
      </p:sp>
      <p:sp>
        <p:nvSpPr>
          <p:cNvPr id="6" name="closing-current-head">
            <a:extLst xmlns:a="http://schemas.openxmlformats.org/drawingml/2006/main">
              <a:ext uri="{FF2B5EF4-FFF2-40B4-BE49-F238E27FC236}">
                <a16:creationId xmlns:a16="http://schemas.microsoft.com/office/drawing/2014/main" id="{4B2F11FE-CAD7-4ECF-90ED-A158734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현재 확보</a:t>
            </a:r>
          </a:p>
        </p:txBody>
      </p:sp>
      <p:sp>
        <p:nvSpPr>
          <p:cNvPr id="7" name="closing-current-list">
            <a:extLst xmlns:a="http://schemas.openxmlformats.org/drawingml/2006/main">
              <a:ext uri="{FF2B5EF4-FFF2-40B4-BE49-F238E27FC236}">
                <a16:creationId xmlns:a16="http://schemas.microsoft.com/office/drawing/2014/main" id="{81716450-083B-44B3-B417-BDC0CF15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5개 활성 씬의 Quest 실행 흐름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작업계획 2종 × 학습모드 3종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모드·퀴즈·PPE 원본 계측 계약</a:t>
            </a:r>
          </a:p>
        </p:txBody>
      </p:sp>
      <p:sp>
        <p:nvSpPr>
          <p:cNvPr id="8" name="closing-next-en">
            <a:extLst xmlns:a="http://schemas.openxmlformats.org/drawingml/2006/main">
              <a:ext uri="{FF2B5EF4-FFF2-40B4-BE49-F238E27FC236}">
                <a16:creationId xmlns:a16="http://schemas.microsoft.com/office/drawing/2014/main" id="{4811990D-5E99-478F-9FAF-E6BB32F3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83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B78300"/>
                </a:solidFill>
                <a:latin typeface="Malgun Gothic"/>
                <a:ea typeface="Malgun Gothic"/>
                <a:cs typeface="Malgun Gothic"/>
              </a:rPr>
              <a:t>NEXT</a:t>
            </a:r>
          </a:p>
        </p:txBody>
      </p:sp>
      <p:sp>
        <p:nvSpPr>
          <p:cNvPr id="9" name="closing-next-head">
            <a:extLst xmlns:a="http://schemas.openxmlformats.org/drawingml/2006/main">
              <a:ext uri="{FF2B5EF4-FFF2-40B4-BE49-F238E27FC236}">
                <a16:creationId xmlns:a16="http://schemas.microsoft.com/office/drawing/2014/main" id="{60558BE6-3D9A-49F4-ABEC-34291AFC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050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다음 검증 게이트</a:t>
            </a:r>
          </a:p>
        </p:txBody>
      </p:sp>
      <p:sp>
        <p:nvSpPr>
          <p:cNvPr id="10" name="closing-next-list">
            <a:extLst xmlns:a="http://schemas.openxmlformats.org/drawingml/2006/main">
              <a:ext uri="{FF2B5EF4-FFF2-40B4-BE49-F238E27FC236}">
                <a16:creationId xmlns:a16="http://schemas.microsoft.com/office/drawing/2014/main" id="{42446D7A-8164-4501-B7DF-2B783FCE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Quest 6개 조합 E2E 통합 실행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운영 인증·HTTPS·출시 서명</a:t>
            </a:r>
          </a:p>
          <a:p xmlns:a="http://schemas.openxmlformats.org/drawingml/2006/main">
            <a:pPr marL="24" indent="-14">
              <a:spcAft>
                <a:spcPts val="13"/>
              </a:spcAft>
              <a:buChar char="•"/>
              <a:def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02531"/>
                </a:solidFill>
                <a:latin typeface="Malgun Gothic"/>
                <a:ea typeface="Malgun Gothic"/>
                <a:cs typeface="Malgun Gothic"/>
              </a:rPr>
              <a:t>Quest 성능·양안·VRC 최종 확인</a:t>
            </a:r>
          </a:p>
        </p:txBody>
      </p:sp>
      <p:sp>
        <p:nvSpPr>
          <p:cNvPr id="11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98756537-ECD5-40F8-A019-DED2D0E7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6874"/>
                </a:solidFill>
                <a:latin typeface="Malgun Gothic"/>
                <a:ea typeface="Malgun Gothic"/>
                <a:cs typeface="Malgun Gothic"/>
              </a:rPr>
              <a:t>※ 합격·불합격 기준은 아직 확정하지 않았으며, 미검증 수치를 평가 지표로 사용하지 않습니다.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16797-0335-4D0F-AF1C-0DECD640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0070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ing-goal-label">
            <a:extLst xmlns:a="http://schemas.openxmlformats.org/drawingml/2006/main">
              <a:ext uri="{FF2B5EF4-FFF2-40B4-BE49-F238E27FC236}">
                <a16:creationId xmlns:a16="http://schemas.microsoft.com/office/drawing/2014/main" id="{211B467E-686D-4B9C-885F-4AFD6F7B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24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4C243"/>
                </a:solidFill>
                <a:latin typeface="Malgun Gothic"/>
                <a:ea typeface="Malgun Gothic"/>
                <a:cs typeface="Malgun Gothic"/>
              </a:rPr>
              <a:t>다음 목표</a:t>
            </a:r>
          </a:p>
        </p:txBody>
      </p:sp>
      <p:sp>
        <p:nvSpPr>
          <p:cNvPr id="14" name="closing-goal">
            <a:extLst xmlns:a="http://schemas.openxmlformats.org/drawingml/2006/main">
              <a:ext uri="{FF2B5EF4-FFF2-40B4-BE49-F238E27FC236}">
                <a16:creationId xmlns:a16="http://schemas.microsoft.com/office/drawing/2014/main" id="{DD8CC006-41C8-430D-BD67-AFC64D93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실제 Quest 수행을 서버 DB와 운영 대시보드까지 연결 검증</a:t>
            </a:r>
          </a:p>
        </p:txBody>
      </p:sp>
      <p:sp>
        <p:nvSpPr>
          <p:cNvPr id="15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FA06F565-20FE-4333-B571-1C7A244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1905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2026-09-01T07:49:54.5090000Z</dcterms:created>
  <dcterms:modified xsi:type="dcterms:W3CDTF">2026-09-01T07:49:54.5090000Z</dcterms:modified>
</coreProperties>
</file>