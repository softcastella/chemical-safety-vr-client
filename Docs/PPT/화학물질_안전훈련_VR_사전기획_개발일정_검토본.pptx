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presProps" Target="presProps.xml"  /><Relationship Id="rId24" Type="http://schemas.openxmlformats.org/officeDocument/2006/relationships/viewProps" Target="viewProps.xml"  /><Relationship Id="rId25" Type="http://schemas.openxmlformats.org/officeDocument/2006/relationships/theme" Target="theme/theme1.xml"  /><Relationship Id="rId26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4"/>
          </a:solidFill>
          <a:ln>
            <a:solidFill>
              <a:srgbClr val="09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640080"/>
            <a:ext cx="2468880" cy="2468880"/>
          </a:xfrm>
          <a:prstGeom prst="ellipse">
            <a:avLst/>
          </a:prstGeom>
          <a:noFill/>
          <a:ln w="15240"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0"/>
            <a:ext cx="1463040" cy="1463040"/>
          </a:xfrm>
          <a:prstGeom prst="ellipse">
            <a:avLst/>
          </a:prstGeom>
          <a:noFill/>
          <a:ln w="15240"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4297680"/>
            <a:ext cx="1828800" cy="1828800"/>
          </a:xfrm>
          <a:prstGeom prst="ellipse">
            <a:avLst/>
          </a:prstGeom>
          <a:noFill/>
          <a:ln w="15240"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658368"/>
            <a:ext cx="1143000" cy="31089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713232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1424"/>
                </a:solidFill>
                <a:latin typeface="Malgun Gothic"/>
              </a:rPr>
              <a:t>VR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7589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4F8FC"/>
                </a:solidFill>
                <a:latin typeface="Malgun Gothic"/>
              </a:rPr>
              <a:t>화학물질 안전훈련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75688"/>
            <a:ext cx="7498079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25D3C6"/>
                </a:solidFill>
                <a:latin typeface="Malgun Gothic"/>
              </a:rPr>
              <a:t>밀폐공간 안전교육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53512"/>
            <a:ext cx="5760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DB1C5"/>
                </a:solidFill>
                <a:latin typeface="Malgun Gothic"/>
              </a:rPr>
              <a:t>사전 기획 · 개발 일정 통합 검토본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67912"/>
            <a:ext cx="5394960" cy="1078992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087368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교육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023360"/>
            <a:ext cx="3886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8FC"/>
                </a:solidFill>
                <a:latin typeface="Malgun Gothic"/>
              </a:rPr>
              <a:t>PPE 점검부터 작업허가 승인까지
직접 수행하는 체험형 안전교육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076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Unity 6 · OpenXR · Meta Quest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검토 범위와 발표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기획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09344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교육 목적·대상·플레이어 역할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80" y="1645920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963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교육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05456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공통 조작과 2개 시나리오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27080" y="2542032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39242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9242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체험 흐름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01568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PPE → 현장 준비 → 승인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27080" y="3438144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288536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885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개발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97679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프로토타입·보완·QA·발표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27080" y="4334255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1846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1846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관리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193792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완료 기준·범위 축소 원칙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27080" y="5230368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왜 VR 밀폐공간 안전교육인가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01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520440" cy="42976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4297680"/>
          </a:xfrm>
          <a:prstGeom prst="roundRect">
            <a:avLst/>
          </a:prstGeom>
          <a:solidFill>
            <a:srgbClr val="FF6161"/>
          </a:solidFill>
          <a:ln>
            <a:solidFill>
              <a:srgbClr val="FF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1181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기존 교육의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3081528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설명·문서 중심 교육은 절차 기억과 행동 전환에 한계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실제 설비에서 반복 훈련하기 어렵고 사고 위험이 큼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PPE·LOTO·가스 측정·환기의 순서 오류를 체감하기 어려움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20440" cy="42976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54864" cy="429768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746504"/>
            <a:ext cx="31181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VR이 제공하는 가치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194560"/>
            <a:ext cx="3081528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위험 없이 동일 절차를 반복 수행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오답 즉시 피드백과 재시도로 행동 교정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설비·장비·공간 맥락 안에서 순서 학습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Quest 기반 독립 실행으로 교육 접근성 확보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520440" cy="42976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54864" cy="429768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746504"/>
            <a:ext cx="31181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프로젝트의 해법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203704"/>
            <a:ext cx="308152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DB1C5"/>
                </a:solidFill>
                <a:latin typeface="Malgun Gothic"/>
              </a:rPr>
              <a:t>혼합기 내부 청소 전 과정을 하나의 작업 시나리오로 연결하고, 플레이어가 직접 확인·점검·차단·측정·설치·보고하도록 설계한다.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01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74720" cy="14173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141732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723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프로젝트명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203704"/>
            <a:ext cx="30358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DB1C5"/>
                </a:solidFill>
                <a:latin typeface="Malgun Gothic"/>
              </a:rPr>
              <a:t>화학물질 안전훈련 VR
– 밀폐공간 안전교육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2057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54864" cy="20574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746504"/>
            <a:ext cx="30723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교육 대상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194560"/>
            <a:ext cx="303580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화학제품 제조공장 생산작업자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혼합기 내부 청소 지정 작업자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신규·정기 안전교육 대상자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474720" cy="2057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54864" cy="20574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746504"/>
            <a:ext cx="30723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현장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194560"/>
            <a:ext cx="303580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중소규모 화학제품 제조공장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2층 작업대 높이의 혼합기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계단·작업대를 통한 맨홀 접근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31920"/>
            <a:ext cx="10972800" cy="1600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931920"/>
            <a:ext cx="54864" cy="1600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078224"/>
            <a:ext cx="105704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핵심 수행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526280"/>
            <a:ext cx="1053388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PPE 확인 및 착용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구동 전원 차단·LOTO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1·2차 가스 측정과 환기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통신 확인·작업허가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플레이어 역할과 교육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01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337560" cy="14173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4864" cy="141732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837944"/>
            <a:ext cx="29352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플레이어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295144"/>
            <a:ext cx="289864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DB1C5"/>
                </a:solidFill>
                <a:latin typeface="Malgun Gothic"/>
              </a:rPr>
              <a:t>혼합기 내부 청소작업을 수행하도록 지정된 작업자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337560" cy="14173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54864" cy="141732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1837944"/>
            <a:ext cx="29352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감시인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295144"/>
            <a:ext cx="289864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DB1C5"/>
                </a:solidFill>
                <a:latin typeface="Malgun Gothic"/>
              </a:rPr>
              <a:t>현장 외부에서 준비상태·통신상태를 확인하고 승인 결과 전달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691640"/>
            <a:ext cx="3337560" cy="14173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1691640"/>
            <a:ext cx="54864" cy="141732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6" y="1837944"/>
            <a:ext cx="29352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교육 시스템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295144"/>
            <a:ext cx="289864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DB1C5"/>
                </a:solidFill>
                <a:latin typeface="Malgun Gothic"/>
              </a:rPr>
              <a:t>현재 단계 안내, 조작 유도, 완료·오류 피드백, 진행 상태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6576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D3C6"/>
                </a:solidFill>
                <a:latin typeface="Malgun Gothic"/>
              </a:rPr>
              <a:t>학습 성과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160520"/>
            <a:ext cx="310896" cy="31089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06240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133087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8FC"/>
                </a:solidFill>
                <a:latin typeface="Malgun Gothic"/>
              </a:rPr>
              <a:t>필요 PPE를 식별하고 정상·불량을 판정한다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727448"/>
            <a:ext cx="310896" cy="31089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773168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700016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8FC"/>
                </a:solidFill>
                <a:latin typeface="Malgun Gothic"/>
              </a:rPr>
              <a:t>밀폐공간 진입 전 준비절차를 올바른 순서로 수행한다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294376"/>
            <a:ext cx="310896" cy="31089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340096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266944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8FC"/>
                </a:solidFill>
                <a:latin typeface="Malgun Gothic"/>
              </a:rPr>
              <a:t>모든 조건을 완료한 뒤 작업허가를 받는 원칙을 이해한다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교육 콘텐츠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02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D3C6"/>
                </a:solidFill>
                <a:latin typeface="Malgun Gothic"/>
              </a:rPr>
              <a:t>PPE룸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시작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조작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96312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6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시나리오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교육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2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PPE 착용 교육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점검·판정·착용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4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현장 이동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씬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6136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02168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준비작업 교육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차단·측정·환기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0424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0424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작업허가 승인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0424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완료·복귀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16052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F8FC"/>
                </a:solidFill>
                <a:latin typeface="Malgun Gothic"/>
              </a:rPr>
              <a:t>두 시나리오는 독립 선택이 가능하지만, 최종 체험은 ‘개인 준비 → 현장 준비 → 승인’의 하나의 안전 행동 흐름으로 연결된다.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94560" y="5212080"/>
            <a:ext cx="7818120" cy="59436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5394960"/>
            <a:ext cx="7360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D3C6"/>
                </a:solidFill>
                <a:latin typeface="Malgun Gothic"/>
              </a:rPr>
              <a:t>설명형 콘텐츠가 아닌 직접 수행형 안전교육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공통 진행·조작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02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49240" cy="914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764792"/>
            <a:ext cx="1051560" cy="58521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3852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83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레이 선택 · 텔레포트 · 측정 · 송신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914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1764792"/>
            <a:ext cx="1051560" cy="58521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3852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GRIP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83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한 번 눌러 잡기 / 다시 눌러 놓기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743200"/>
            <a:ext cx="5349240" cy="914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" y="2907792"/>
            <a:ext cx="1051560" cy="585216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08152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026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확인 · 다음 페이지 · 대화 종료 · 장비 작동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349240" cy="914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2907792"/>
            <a:ext cx="1051560" cy="585216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08152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026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PPE 교육에서 불량 PPE 폐기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160520"/>
            <a:ext cx="10972800" cy="14173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4160520"/>
            <a:ext cx="54864" cy="141732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306824"/>
            <a:ext cx="105704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안내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4754880"/>
            <a:ext cx="105338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음성 안내방송 + 화면 안내창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큰 원형 위치 마커 / 작은 원형 아이템 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완료는 초록 체크, 오류는 빨간 X와 재안내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시나리오 A | PPE 착용 안전교육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작업계획서
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0552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7712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PPE 단스
이동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58184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4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표면 상태
육안점검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85816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22976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8696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사용·폐기
판정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13448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착용 상태
저장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거울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3536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68712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05872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1592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현장 이동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D3C6"/>
                </a:solidFill>
                <a:latin typeface="Malgun Gothic"/>
              </a:rPr>
              <a:t>필요 PPE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내화학 방호복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52928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44368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내화학 장화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65776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57216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내화학 장갑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78624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70064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송기마스크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91472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82911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안전모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6509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C145"/>
                </a:solidFill>
                <a:latin typeface="Malgun Gothic"/>
              </a:rPr>
              <a:t>정상 PPE만 착용하고, 불량 PPE는 폐기하는 판정 행동을 핵심 학습으로 구성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PPE 교육 | 핵심 인터랙션과 피드백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1874519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작업계획서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태블릿을 그립으로 잡기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작업내용·필요 PPE 체크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전체 확인 후 다음 단계 활성화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1874519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육안점검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PPE를 손에 들고 회전 확인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찢어짐·균열·오염·변색 표현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정상/불량에 따라 사용 또는 폐기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1874519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착용·거울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PPE가 몸 방향으로 이동 후 착용 상태 저장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신체 대신 착용 PPE만 표시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거울에서 연결부·표면·안전모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86200"/>
            <a:ext cx="5257800" cy="128016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69663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D3C6"/>
                </a:solidFill>
                <a:latin typeface="Malgun Gothic"/>
              </a:rPr>
              <a:t>✓  올바른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994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초록 체크 · 완료 SFX · 확인멘트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86200"/>
            <a:ext cx="5303520" cy="128016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169663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6161"/>
                </a:solidFill>
                <a:latin typeface="Malgun Gothic"/>
              </a:rPr>
              <a:t>×  잘못된 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994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빨간 X · 오류 SFX · 재확인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시나리오 B | 밀폐공간 진입 전 준비작업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감시인
최초 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0208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1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1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안전 문서
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20208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전원 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20208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5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0375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5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LOTO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20208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8088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1차 가스
측정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환기팬·덕트
설치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2" y="34655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07791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1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36391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34655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75504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12664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4104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2차 가스
측정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7456" y="34655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43215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0375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71815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무전 테스트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7" y="34655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10928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48088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9528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승인·복귀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892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145"/>
                </a:solidFill>
                <a:latin typeface="Malgun Gothic"/>
              </a:rPr>
              <a:t>승인 조건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4855464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문서 확인 + 전원 차단 + LOTO + 1·2차 가스 측정 + 환기 + 무전 테스트 완료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현장 준비 ① | 문서 확인 · 전원 차단 · LOTO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52044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안전 문서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작업계획서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밀폐공간 작업허가서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MSDS · 작업 절차 · 비상대응 정보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마지막 페이지까지 확인해야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52044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혼합기 전원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혼합기 구동 전원 상태 확인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B 버튼으로 OFF 처리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표시등 소등과 상태값 일치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OFF 이후 재가동 방지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52044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LOTO 설치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전원 OFF 후 자물쇠·태그 활성화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그립 토글로 잡아 지정 위치 스냅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설치 후 재조작 차단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완료 시 초록 체크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D3C6"/>
                </a:solidFill>
                <a:latin typeface="Malgun Gothic"/>
              </a:rPr>
              <a:t>절차 순서 강제: 문서 확인 → 전원 OFF → LOTO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9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현장 준비 ② | 1·2차 가스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측정기 잡기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오른손 그립 토글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측정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맨홀 방향에서 트리거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자동 연출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852928"/>
            <a:ext cx="1554480" cy="678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l">
              <a:defRPr/>
            </a:pPr>
            <a:r>
              <a:rPr lang="ko-KR" altLang="en-US" sz="1300" b="0">
                <a:solidFill>
                  <a:srgbClr val="9db1c5"/>
                </a:solidFill>
                <a:latin typeface="맑은 고딕"/>
              </a:rPr>
              <a:t>왼</a:t>
            </a:r>
            <a:r>
              <a:rPr sz="1300" b="0">
                <a:solidFill>
                  <a:srgbClr val="9db1c5"/>
                </a:solidFill>
                <a:latin typeface="맑은 고딕"/>
              </a:rPr>
              <a:t>손은 외부, 호스·프로브만 내부</a:t>
            </a:r>
            <a:endParaRPr sz="1300" b="0">
              <a:solidFill>
                <a:srgbClr val="9db1c5"/>
              </a:solidFill>
              <a:latin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31520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구간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상부·중부·하부 순차 표시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결과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5초 게이지 후 정상수치 판정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51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145"/>
                </a:solidFill>
                <a:latin typeface="Malgun Gothic"/>
              </a:rPr>
              <a:t>교육 핵심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81728"/>
            <a:ext cx="10744200" cy="6694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900" b="1">
                <a:solidFill>
                  <a:srgbClr val="f4f8fc"/>
                </a:solidFill>
                <a:latin typeface="맑은 고딕"/>
              </a:rPr>
              <a:t>환기 전 1차 측정과 환기 후 2차 측정을 구분하고, </a:t>
            </a:r>
            <a:endParaRPr sz="1900" b="1">
              <a:solidFill>
                <a:srgbClr val="f4f8fc"/>
              </a:solidFill>
              <a:latin typeface="맑은 고딕"/>
            </a:endParaRPr>
          </a:p>
          <a:p>
            <a:pPr lvl="0" algn="ctr">
              <a:defRPr/>
            </a:pPr>
            <a:r>
              <a:rPr sz="1900" b="1">
                <a:solidFill>
                  <a:srgbClr val="f4f8fc"/>
                </a:solidFill>
                <a:latin typeface="맑은 고딕"/>
              </a:rPr>
              <a:t>한 번의 조작으로 상·중·하부 측정 의미를 전달한다.</a:t>
            </a:r>
            <a:endParaRPr sz="1900" b="1">
              <a:solidFill>
                <a:srgbClr val="f4f8fc"/>
              </a:solidFill>
              <a:latin typeface="맑은 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현장 준비 ③ | 환기 · 통신 · 작업허가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52044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환기팬·덕트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팬 쪽 덕트 스냅 후 전원 작동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반대쪽 덕트를 맨홀에 설치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10초 교육용 환기 게이지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준비작업 종료까지 팬 가동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52044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무전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무전기를 잡은 상태에서만 송신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플레이어 → 잡음 → 감시인 순서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중복 입력·음성 겹침 방지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완료 후 승인 단계 활성화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52044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작업허가 승인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모든 준비 조건 완료 여부 확인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감시인 최종 대화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작업허가서 승인 도장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성공 메시지 후 PPE룸 복귀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UI · SFX · VFX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886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World Space 안내창·대화창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태블릿 문서·체크박스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가스 측정·환기 게이지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성공 메시지·복귀 버튼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8862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SFX / 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버튼·잡기·체결·측정 완료음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환기팬 3D 공간음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무전 송수신·잡음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감시인 안내와 완료 음성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8862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VFX /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위치·아이템 마커 반복 모션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대상 하이라이트·배경 블러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PPE 손상·착용 페이드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팬 회전·승인 도장·씬 페이드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744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8FC"/>
                </a:solidFill>
                <a:latin typeface="Malgun Gothic"/>
              </a:rPr>
              <a:t>원칙: 시야를 가리지 않고, 현재 단계의 정보만 제공하며, 음성·화면 지시가 일치해야 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전체 개발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46304" cy="566928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8191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07.20–08.09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3619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프로토타입 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55448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핵심 시나리오 전체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76856"/>
            <a:ext cx="146304" cy="566928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50008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08.10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04287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프로토타입 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322575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작동 가능한 수직형 빌드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44952"/>
            <a:ext cx="146304" cy="566928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18104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84FF"/>
                </a:solidFill>
                <a:latin typeface="Malgun Gothic"/>
              </a:rPr>
              <a:t>08.11–08.23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07238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기능 완성·보완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090672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피드백·연출·에셋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13048"/>
            <a:ext cx="146304" cy="566928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86200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84FF"/>
                </a:solidFill>
                <a:latin typeface="Malgun Gothic"/>
              </a:rPr>
              <a:t>08.24–09.06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84048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통합·최적화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858768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Quest 2·문서·안정 빌드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81144"/>
            <a:ext cx="146304" cy="566928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654296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145"/>
                </a:solidFill>
                <a:latin typeface="Malgun Gothic"/>
              </a:rPr>
              <a:t>09.07–09.13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608576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QA 주간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626864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기능·조작·절차 집중 검수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349240"/>
            <a:ext cx="146304" cy="566928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42239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145"/>
                </a:solidFill>
                <a:latin typeface="Malgun Gothic"/>
              </a:rPr>
              <a:t>09.14–09.18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37667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리허설·제출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5394959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발표·시연·최종 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프로토타입 3주 실행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6118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61188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1주차 · 07.20–07.26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공통 진행 시스템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레이 UI·위치/아이템 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그립 토글·A/B/트리거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안내창·정답/오답 피드백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6118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61188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2주차 · 07.27–08.02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작업계획서 태블릿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PPE 점검·사용·폐기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착용 상태 저장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거울 확인·현장 이동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6118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61188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3주차 · 08.03–08.09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감시인·문서·전원·LOTO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1·2차 가스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환기팬·덕트·무전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승인·복귀·Quest 2 안정화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6161"/>
                </a:solidFill>
                <a:latin typeface="Malgun Gothic"/>
              </a:rPr>
              <a:t>08.09 신규 기능 추가 금지 → 시연 순서·초기화·입력·빌드 안정성만 점검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8월 10일 프로토타입 시연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886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시연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시나리오 선택 → PPE 교육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현장 문서 → OFF → LOTO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가스 측정 → 환기 → 재측정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무전 → 감시인 승인 → 성공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8862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허용되는 임시 요소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임시 안내 음성·문서 이미지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단순화된 자동 손 애니메이션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일부 미완성 VFX·SFX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기본 형태 성공 메시지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8862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반드시 만족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처음부터 끝까지 중단 없음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다음 행동을 스스로 이해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조작과 안내 내용 일치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에디터 조작 없이 시연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프로토타입 이후 완성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011680" cy="749808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08.11–08.16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20824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Malgun Gothic"/>
              </a:rPr>
              <a:t>1차 보완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600200"/>
            <a:ext cx="8641080" cy="749808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828800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진행 오류·조작 설명·UI·동선·대화 수정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06040"/>
            <a:ext cx="2011680" cy="749808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72491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08.17–08.23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026664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Malgun Gothic"/>
              </a:rPr>
              <a:t>2차 완성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606040"/>
            <a:ext cx="8641080" cy="749808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834640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PPE 셰이더·거울·자동 손·호스·SFX·승인 연출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2011680" cy="749808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73075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08.24–08.30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032504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Malgun Gothic"/>
              </a:rPr>
              <a:t>통합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611880"/>
            <a:ext cx="8641080" cy="749808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840480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전체 연결·초기화·복구·중복 방지·전체 플레이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17720"/>
            <a:ext cx="2011680" cy="749808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365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08.31–09.06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038344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Malgun Gothic"/>
              </a:rPr>
              <a:t>최적화·문서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4617720"/>
            <a:ext cx="8641080" cy="749808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4846320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Quest 2 성능·오디오·텍스처·문서·스크린샷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C145"/>
                </a:solidFill>
                <a:latin typeface="Malgun Gothic"/>
              </a:rPr>
              <a:t>우선순위: 시나리오 안정성 → 조작 명확성 → Quest 성능 → 시청각 완성도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QA · 리허설 · 제출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97763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977639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QA · 09.07–09.13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26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신규 기능·에셋 추가 금지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진행 불가 → 입력 → 초기화 → 절차 오류 순 수정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기능별 QA 후 전체 반복 플레이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Quest 2 실기 빌드·회귀 테스트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97763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977639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리허설 · 09.14–09.16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26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발표 대본·예상 질문 정리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VR 시연 동선과 시간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화면 공유·대체 영상 점검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발표 전날 비치명적 수정 금지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97763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977639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제출 · 09.17–09.18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26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VR 실행 빌드·기획/설계/R&amp;D 문서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개발 일정·QA 결과·발표자료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시연 또는 백업 영상·에셋 출처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최종 백업과 과정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9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일정 지연 시 범위 조정 원칙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05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40690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406908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반드시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시나리오 진행·입력·마커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문서 확인·PPE 판정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전원 OFF·LOTO·가스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환기·무전·승인·복귀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40690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406908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단순화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PPE 손상 셰이더 정밀도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거울 해상도·자동 손 세부 동작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호스 변형·덕트 물리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공기 흐름 VFX·NPC 애니메이션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40690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4069080"/>
          </a:xfrm>
          <a:prstGeom prst="roundRect">
            <a:avLst/>
          </a:prstGeom>
          <a:solidFill>
            <a:srgbClr val="FF6161"/>
          </a:solidFill>
          <a:ln>
            <a:solidFill>
              <a:srgbClr val="FF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삭제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장식용 환경 애니메이션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진행과 무관한 오브젝트 조작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불필요한 자유 이동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복잡한 컷신·추가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완료 기준과 검토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05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49240" cy="41605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416052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49469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콘텐츠·진행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4910327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두 교육 시나리오가 처음부터 끝까지 실행되는가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플레이어가 현재·다음 행동을 이해하는가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절차 순서를 건너뛸 수 없도록 제어되는가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입력 중복·오브젝트 유실에서 복구 가능한가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1605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864" cy="416052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746504"/>
            <a:ext cx="49469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교육·기술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194560"/>
            <a:ext cx="4910327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PPE 판정과 착용 결과가 명확한가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가스 측정·환기·통신의 교육 의미가 전달되는가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모든 조건 완료 후에만 승인이 실행되는가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Meta Quest 2에서 안정적으로 작동하는가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5961888"/>
            <a:ext cx="7680960" cy="457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608076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91424"/>
                </a:solidFill>
                <a:latin typeface="Malgun Gothic"/>
              </a:rPr>
              <a:t>검토 의견을 반영해 R&amp;D 상세본과 최종 발표본으로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1433</ep:Words>
  <ep:PresentationFormat>On-screen Show (4:3)</ep:PresentationFormat>
  <ep:Paragraphs>641</ep:Paragraphs>
  <ep:Slides>21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ep:HeadingPairs>
  <ep:TitlesOfParts>
    <vt:vector size="2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3D_UI_Test_home 프로젝트</dc:creator>
  <dc:description>generated using python-pptx</dc:description>
  <cp:lastModifiedBy>user</cp:lastModifiedBy>
  <dcterms:modified xsi:type="dcterms:W3CDTF">2026-07-20T09:27:48.966</dcterms:modified>
  <cp:revision>3</cp:revision>
  <dc:subject>사전 기획 및 개발 일정 검토본</dc:subject>
  <dc:title>화학물질 안전훈련 VR – 밀폐공간 안전교육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