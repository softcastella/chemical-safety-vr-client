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presProps" Target="presProps.xml"  /><Relationship Id="rId13" Type="http://schemas.openxmlformats.org/officeDocument/2006/relationships/viewProps" Target="viewProps.xml"  /><Relationship Id="rId14" Type="http://schemas.openxmlformats.org/officeDocument/2006/relationships/theme" Target="theme/theme1.xml"  /><Relationship Id="rId15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 idx="0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14c6aea4638f43ca" Type="http://schemas.openxmlformats.org/officeDocument/2006/relationships/slide" Target="../slides/slide1.xml"  /><Relationship Id="Raa5707fc73004068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3b5da665396f4b6f" Type="http://schemas.openxmlformats.org/officeDocument/2006/relationships/slide" Target="../slides/slide2.xml"  /><Relationship Id="R7d02b2ee5e4a4bf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ca38a93be3894eaf" Type="http://schemas.openxmlformats.org/officeDocument/2006/relationships/slide" Target="../slides/slide3.xml"  /><Relationship Id="Redc798bfa3804d2e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0c7a5436e4504515" Type="http://schemas.openxmlformats.org/officeDocument/2006/relationships/slide" Target="../slides/slide4.xml"  /><Relationship Id="R6d2ae6b2ab4c481c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9b94d93dceaf4e7b" Type="http://schemas.openxmlformats.org/officeDocument/2006/relationships/notesMaster" Target="../notesMasters/notesMaster1.xml"  /><Relationship Id="Rb2890256d79c476e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297818bde793474a" Type="http://schemas.openxmlformats.org/officeDocument/2006/relationships/notesMaster" Target="../notesMasters/notesMaster1.xml"  /><Relationship Id="Rfa69e91e0d2a48f4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176275546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f652ab9f25504d17" Type="http://schemas.openxmlformats.org/officeDocument/2006/relationships/slideMaster" Target="../slideMasters/slideMaster1.xml" 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 ?><Relationships xmlns="http://schemas.openxmlformats.org/package/2006/relationships"><Relationship Id="R885e1edd5ee54f00" Type="http://schemas.openxmlformats.org/officeDocument/2006/relationships/theme" Target="../theme/theme1.xml"  /><Relationship Id="R9bbdd27d5b1f466b" Type="http://schemas.openxmlformats.org/officeDocument/2006/relationships/slideLayout" Target="../slideLayouts/slideLayout1.xml" 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bdd27d5b1f46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42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519B5-FD33-467F-8B64-8B6FBB69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화학물질 안전교육 VR</a:t>
            </a:r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85800" y="2647950"/>
            <a:ext cx="10477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defRPr sz="2025" b="0">
                <a:solidFill>
                  <a:srgbClr val="d9e7f4"/>
                </a:solidFill>
                <a:latin typeface="Arial"/>
                <a:ea typeface="Arial"/>
                <a:cs typeface="Arial"/>
              </a:defRPr>
            </a:pPr>
            <a:r>
              <a:rPr lang="ko-KR" altLang="en-US" sz="2025" b="1">
                <a:solidFill>
                  <a:srgbClr val="d9e7f4"/>
                </a:solidFill>
                <a:latin typeface="Arial"/>
                <a:ea typeface="Arial"/>
                <a:cs typeface="Arial"/>
              </a:rPr>
              <a:t>문</a:t>
            </a:r>
            <a:r>
              <a:rPr lang="en-US" altLang="ko-KR" sz="2025" b="1">
                <a:solidFill>
                  <a:srgbClr val="d9e7f4"/>
                </a:solidFill>
                <a:latin typeface="Arial"/>
                <a:ea typeface="Arial"/>
                <a:cs typeface="Arial"/>
              </a:rPr>
              <a:t>1.</a:t>
            </a:r>
            <a:r>
              <a:rPr lang="ko-KR" altLang="en-US" sz="2025" b="1">
                <a:solidFill>
                  <a:srgbClr val="d9e7f4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>
                <a:solidFill>
                  <a:srgbClr val="d9e7f4"/>
                </a:solidFill>
                <a:latin typeface="Arial"/>
                <a:ea typeface="Arial"/>
                <a:cs typeface="Arial"/>
              </a:rPr>
              <a:t>프로젝트 기획서 및 요구사항 정의서</a:t>
            </a:r>
            <a:endParaRPr sz="2025" b="1">
              <a:solidFill>
                <a:srgbClr val="d9e7f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85800" y="5619750"/>
            <a:ext cx="9525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 lvl="0">
              <a:defRPr sz="1350" b="0">
                <a:solidFill>
                  <a:srgbClr val="b8c9d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9da"/>
                </a:solidFill>
                <a:latin typeface="Arial"/>
                <a:ea typeface="Arial"/>
                <a:cs typeface="Arial"/>
              </a:rPr>
              <a:t>Tyche · 1인 팀 · 2026.09.15</a:t>
            </a:r>
            <a:r>
              <a:rPr lang="ko-KR" altLang="en-US" sz="1350" b="0">
                <a:solidFill>
                  <a:srgbClr val="b8c9da"/>
                </a:solidFill>
                <a:latin typeface="Arial"/>
                <a:ea typeface="Arial"/>
                <a:cs typeface="Arial"/>
              </a:rPr>
              <a:t> 작성</a:t>
            </a:r>
            <a:endParaRPr lang="ko-KR" altLang="en-US" sz="1350" b="0">
              <a:solidFill>
                <a:srgbClr val="b8c9d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597458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71E47-9DF8-446D-A5C6-D690573C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EB4"/>
          </a:solidFill>
          <a:ln xmlns:a="http://schemas.openxmlformats.org/drawingml/2006/main" w="0">
            <a:solidFill>
              <a:srgbClr val="256EB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31447-4C98-42B6-B73B-EDFA19D7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1. 프로젝트 주제·목표·대상</a:t>
            </a: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28650" y="104775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defRPr sz="1350" b="0">
                <a:solidFill>
                  <a:srgbClr val="5162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6274"/>
                </a:solidFill>
                <a:latin typeface="Arial"/>
                <a:ea typeface="Arial"/>
                <a:cs typeface="Arial"/>
              </a:rPr>
              <a:t>프로젝트 개요</a:t>
            </a:r>
            <a:endParaRPr sz="1350" b="1">
              <a:solidFill>
                <a:srgbClr val="5162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85800" y="1619250"/>
            <a:ext cx="10820400" cy="457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주제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Meta Quest 기반 가상현실 환경에서 화학물질 취급 전 PPE 선택·점검·착용 절차를 교육한다.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목표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교육·훈련·테스트 모드로 반복 학습과 평가를 제공하고, 수행 결과를 서버와 운영 대시보드에서 조회한다.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대상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화학물질 취급 작업 전 교육생, PPE 절차를 반복 훈련하는 작업자, 교육 결과를 확인하는 관리자.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991434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FF8B4-30A0-4336-B7F2-12CFC14D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EB4"/>
          </a:solidFill>
          <a:ln xmlns:a="http://schemas.openxmlformats.org/drawingml/2006/main" w="0">
            <a:solidFill>
              <a:srgbClr val="256EB4"/>
            </a:solidFill>
          </a:ln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609600" y="4572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defRPr sz="2550" b="1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2. 요구사항 정의서</a:t>
            </a:r>
            <a:endParaRPr sz="2550" b="1">
              <a:solidFill>
                <a:srgbClr val="14243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28650" y="104775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defRPr sz="1350" b="0">
                <a:solidFill>
                  <a:srgbClr val="5162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6274"/>
                </a:solidFill>
                <a:latin typeface="Arial"/>
                <a:ea typeface="Arial"/>
                <a:cs typeface="Arial"/>
              </a:rPr>
              <a:t>필수 기능</a:t>
            </a:r>
            <a:endParaRPr sz="1350" b="1">
              <a:solidFill>
                <a:srgbClr val="5162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85800" y="1619250"/>
            <a:ext cx="10820400" cy="457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FR-01 XR 초기화·씬 전환: App → Title → Intro → Loading → PPE Room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lnSpc>
                <a:spcPct val="120000"/>
              </a:lnSpc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FR-02 컨트롤러 조작 교육: 이동·Ray·Trigger·Grip 안내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lnSpc>
                <a:spcPct val="120000"/>
              </a:lnSpc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FR-03 작업계획·모드 선택: ConfinedSpace·LeakResponse / Education·Training·Test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lnSpc>
                <a:spcPct val="120000"/>
              </a:lnSpc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FR-04 PPE 선택·점검·착용: 마커 Grab, 정상·불량 판정, 사용·폐기, 거울 확인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lnSpc>
                <a:spcPct val="120000"/>
              </a:lnSpc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FR-05 모드별 안내·퀴즈: VOICE·오류 피드백, 점수·정답·오선택·소요시간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lnSpc>
                <a:spcPct val="120000"/>
              </a:lnSpc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FR-06 세션·텔레메트리: JSONL 기록과 HTTPS 전송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lnSpc>
                <a:spcPct val="120000"/>
              </a:lnSpc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FR-07 운영 조회: 관리자 사용자·플레이·세션·결과 조회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lnSpc>
                <a:spcPct val="120000"/>
              </a:lnSpc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FR-08 완료·종료: 완료 이벤트와 종료 사유 저장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5435108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20BF0-0EA0-4DCB-927F-6AB4A193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EB4"/>
          </a:solidFill>
          <a:ln xmlns:a="http://schemas.openxmlformats.org/drawingml/2006/main" w="0">
            <a:solidFill>
              <a:srgbClr val="256EB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4DC9D-700F-4E66-9970-432C6D9E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3. 요구사항 정의서</a:t>
            </a: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28650" y="104775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defRPr sz="1350" b="0">
                <a:solidFill>
                  <a:srgbClr val="5162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6274"/>
                </a:solidFill>
                <a:latin typeface="Arial"/>
                <a:ea typeface="Arial"/>
                <a:cs typeface="Arial"/>
              </a:rPr>
              <a:t>선택 기능</a:t>
            </a:r>
            <a:endParaRPr sz="1350" b="1">
              <a:solidFill>
                <a:srgbClr val="5162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85800" y="1619250"/>
            <a:ext cx="10820400" cy="457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OR-01 한글 이름 입력: Alpha 운영에서는 우회 설정 가능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OR-02 음성 안내 확장: 단계별 VOICE·SFX·자막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OR-03 손 모델 표현: PPE 상태별 손 모델·효과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OR-04 관리자 알림: 서버 알림·푸시 구독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선택 기능은 핵심 PPE 교육 흐름을 방해하지 않는 범위에서 적용한다.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1279115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44B6D-368D-4E44-962B-981DA55A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EB4"/>
          </a:solidFill>
          <a:ln xmlns:a="http://schemas.openxmlformats.org/drawingml/2006/main" w="0">
            <a:solidFill>
              <a:srgbClr val="256EB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4E198-4DA7-4EE4-854C-FB12549B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4. 개발 범위</a:t>
            </a: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28650" y="104775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defRPr sz="1350" b="0">
                <a:solidFill>
                  <a:srgbClr val="5162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6274"/>
                </a:solidFill>
                <a:latin typeface="Arial"/>
                <a:ea typeface="Arial"/>
                <a:cs typeface="Arial"/>
              </a:rPr>
              <a:t>포함 범위와 제외 범위</a:t>
            </a:r>
            <a:endParaRPr sz="1350" b="1">
              <a:solidFill>
                <a:srgbClr val="5162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85800" y="1619250"/>
            <a:ext cx="10820400" cy="457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포함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• PPE Room 독립형 Quest/OpenXR 체험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• </a:t>
            </a:r>
            <a:r>
              <a:rPr lang="ko-KR" altLang="en-US"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밀폐공간</a:t>
            </a: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화학물질 누출 대응 </a:t>
            </a: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 2개 작업계획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• </a:t>
            </a:r>
            <a:r>
              <a:rPr lang="ko-KR" altLang="en-US"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교육</a:t>
            </a: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훈련</a:t>
            </a: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테스트 </a:t>
            </a: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3개 모드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• PPE 선택·점검·착용·거울·퀴즈·결과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• 로컬 JSONL, HTTPS 전송, 서버 DB 저장, 운영 대시보드 조회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제외·후속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• 혼합기동 전체 밀폐공간 절차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• 혼합기 내부 사고 체험·후속 VFX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• LMS 자동 연동, 다중 사용자, 음성인식 자유대화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0668891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4C005-9237-4222-B26E-D688AAB0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EB4"/>
          </a:solidFill>
          <a:ln xmlns:a="http://schemas.openxmlformats.org/drawingml/2006/main" w="0">
            <a:solidFill>
              <a:srgbClr val="256EB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AC99D-7AFE-4756-9D68-995F10CC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5. 역할 분담</a:t>
            </a: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28650" y="104775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defRPr sz="1350" b="0">
                <a:solidFill>
                  <a:srgbClr val="5162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6274"/>
                </a:solidFill>
                <a:latin typeface="Arial"/>
                <a:ea typeface="Arial"/>
                <a:cs typeface="Arial"/>
              </a:rPr>
              <a:t>1인 팀 Tyche</a:t>
            </a:r>
            <a:r>
              <a:rPr lang="ko-KR" altLang="en-US" sz="1350" b="1">
                <a:solidFill>
                  <a:srgbClr val="516274"/>
                </a:solidFill>
                <a:latin typeface="Arial"/>
                <a:ea typeface="Arial"/>
                <a:cs typeface="Arial"/>
              </a:rPr>
              <a:t>의 역할 분담</a:t>
            </a:r>
            <a:endParaRPr lang="ko-KR" altLang="en-US" sz="1350" b="1">
              <a:solidFill>
                <a:srgbClr val="5162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85800" y="1619250"/>
            <a:ext cx="10820400" cy="457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최진영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프로젝트 기획, 요구사항 정의, </a:t>
            </a:r>
            <a:r>
              <a:rPr lang="ko-KR" altLang="en-US"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디자인</a:t>
            </a:r>
            <a:r>
              <a:rPr lang="en-US" altLang="ko-KR"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,</a:t>
            </a:r>
            <a:r>
              <a:rPr lang="ko-KR" altLang="en-US"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시나리오</a:t>
            </a:r>
            <a:r>
              <a:rPr lang="ko-KR" altLang="en-US"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 작성</a:t>
            </a: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, Unity XR 구현, UI·상호작용, PPE 로직, 텔레메트리, 서버·대시보드 연계, 테스트, 문서, 발표 자료</a:t>
            </a:r>
            <a:r>
              <a:rPr lang="ko-KR" altLang="en-US"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의 </a:t>
            </a:r>
            <a:r>
              <a:rPr lang="ko-KR" altLang="en-US" sz="1575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모든 범위를 </a:t>
            </a:r>
            <a:r>
              <a:rPr lang="en-US" altLang="ko-KR" sz="1575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1</a:t>
            </a:r>
            <a:r>
              <a:rPr lang="ko-KR" altLang="en-US" sz="1575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인으로 </a:t>
            </a:r>
            <a:r>
              <a:rPr sz="1575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담당</a:t>
            </a: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한다.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협업 기준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클라이언트와 서버를 별도 저장소로 관리하고, 변경은 Git 커밋과 문서 기록으로 추적한다.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5417266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DBF6A-2B41-4C5F-95F8-5629B91C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EB4"/>
          </a:solidFill>
          <a:ln xmlns:a="http://schemas.openxmlformats.org/drawingml/2006/main" w="0">
            <a:solidFill>
              <a:srgbClr val="256EB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09B34-B48A-4FF8-82C3-FFEE8162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6. 개발 일정</a:t>
            </a: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28650" y="104775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defRPr sz="1350" b="0">
                <a:solidFill>
                  <a:srgbClr val="516274"/>
                </a:solidFill>
                <a:latin typeface="Arial"/>
                <a:ea typeface="Arial"/>
                <a:cs typeface="Arial"/>
              </a:defRPr>
            </a:pPr>
            <a:r>
              <a:rPr lang="ko-KR" altLang="en-US" sz="1350" b="1">
                <a:solidFill>
                  <a:srgbClr val="516274"/>
                </a:solidFill>
                <a:latin typeface="Arial"/>
                <a:ea typeface="Arial"/>
                <a:cs typeface="Arial"/>
              </a:rPr>
              <a:t>주차별 </a:t>
            </a:r>
            <a:r>
              <a:rPr sz="1350" b="1">
                <a:solidFill>
                  <a:srgbClr val="516274"/>
                </a:solidFill>
                <a:latin typeface="Arial"/>
                <a:ea typeface="Arial"/>
                <a:cs typeface="Arial"/>
              </a:rPr>
              <a:t>주요 단계</a:t>
            </a:r>
            <a:endParaRPr sz="1350" b="1">
              <a:solidFill>
                <a:srgbClr val="5162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직사각형 5"/>
          <p:cNvSpPr>
            <a:spLocks noGrp="1"/>
          </p:cNvSpPr>
          <p:nvPr/>
        </p:nvSpPr>
        <p:spPr>
          <a:xfrm>
            <a:off x="666750" y="1381125"/>
            <a:ext cx="10858500" cy="4762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defRPr sz="165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4243c"/>
                </a:solidFill>
                <a:latin typeface="Arial"/>
                <a:ea typeface="Arial"/>
                <a:cs typeface="Arial"/>
              </a:rPr>
              <a:t>06.20–07.28 기획·범위 확정</a:t>
            </a:r>
            <a:endParaRPr sz="165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65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4243c"/>
                </a:solidFill>
                <a:latin typeface="Arial"/>
                <a:ea typeface="Arial"/>
                <a:cs typeface="Arial"/>
              </a:rPr>
              <a:t>07.29–08.13 인터랙션 연구·교육모드 프로토타입</a:t>
            </a:r>
            <a:endParaRPr sz="165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65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4243c"/>
                </a:solidFill>
                <a:latin typeface="Arial"/>
                <a:ea typeface="Arial"/>
                <a:cs typeface="Arial"/>
              </a:rPr>
              <a:t>08.14–08.18 PPE 3모드 기반 구현</a:t>
            </a:r>
            <a:endParaRPr sz="165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65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4243c"/>
                </a:solidFill>
                <a:latin typeface="Arial"/>
                <a:ea typeface="Arial"/>
                <a:cs typeface="Arial"/>
              </a:rPr>
              <a:t>08.19–09.02 데이터·서버 연동</a:t>
            </a:r>
            <a:endParaRPr sz="165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65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4243c"/>
                </a:solidFill>
                <a:latin typeface="Arial"/>
                <a:ea typeface="Arial"/>
                <a:cs typeface="Arial"/>
              </a:rPr>
              <a:t>09.03–09.10 실기 검증·출시 준비</a:t>
            </a:r>
            <a:endParaRPr sz="165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65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4243c"/>
                </a:solidFill>
                <a:latin typeface="Arial"/>
                <a:ea typeface="Arial"/>
                <a:cs typeface="Arial"/>
              </a:rPr>
              <a:t>09.11–09.15 제품화·최종 정리</a:t>
            </a:r>
            <a:r>
              <a:rPr lang="en-US" altLang="ko-KR" sz="1650">
                <a:solidFill>
                  <a:srgbClr val="14243c"/>
                </a:solidFill>
                <a:latin typeface="Arial"/>
                <a:ea typeface="Arial"/>
                <a:cs typeface="Arial"/>
              </a:rPr>
              <a:t>,</a:t>
            </a:r>
            <a:r>
              <a:rPr lang="ko-KR" altLang="en-US" sz="1650">
                <a:solidFill>
                  <a:srgbClr val="14243c"/>
                </a:solidFill>
                <a:latin typeface="Arial"/>
                <a:ea typeface="Arial"/>
                <a:cs typeface="Arial"/>
              </a:rPr>
              <a:t> 메타호라이즌 입점 신청</a:t>
            </a:r>
            <a:r>
              <a:rPr lang="en-US" altLang="ko-KR" sz="1650">
                <a:solidFill>
                  <a:srgbClr val="14243c"/>
                </a:solidFill>
                <a:latin typeface="Arial"/>
                <a:ea typeface="Arial"/>
                <a:cs typeface="Arial"/>
              </a:rPr>
              <a:t>,</a:t>
            </a:r>
            <a:r>
              <a:rPr lang="ko-KR" altLang="en-US" sz="1650">
                <a:solidFill>
                  <a:srgbClr val="14243c"/>
                </a:solidFill>
                <a:latin typeface="Arial"/>
                <a:ea typeface="Arial"/>
                <a:cs typeface="Arial"/>
              </a:rPr>
              <a:t> 대시보드 정리</a:t>
            </a:r>
            <a:endParaRPr lang="ko-KR" altLang="en-US" sz="165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65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4243c"/>
                </a:solidFill>
                <a:latin typeface="Arial"/>
                <a:ea typeface="Arial"/>
                <a:cs typeface="Arial"/>
              </a:rPr>
              <a:t>09.23–10.04 </a:t>
            </a:r>
            <a:r>
              <a:rPr lang="ko-KR" altLang="en-US" sz="1650">
                <a:solidFill>
                  <a:srgbClr val="14243c"/>
                </a:solidFill>
                <a:latin typeface="Arial"/>
                <a:ea typeface="Arial"/>
                <a:cs typeface="Arial"/>
              </a:rPr>
              <a:t>메타 심사 관련 작업 및 마무리</a:t>
            </a:r>
            <a:r>
              <a:rPr lang="en-US" altLang="ko-KR" sz="1650">
                <a:solidFill>
                  <a:srgbClr val="14243c"/>
                </a:solidFill>
                <a:latin typeface="Arial"/>
                <a:ea typeface="Arial"/>
                <a:cs typeface="Arial"/>
              </a:rPr>
              <a:t>,</a:t>
            </a:r>
            <a:r>
              <a:rPr lang="ko-KR" altLang="en-US" sz="1650">
                <a:solidFill>
                  <a:srgbClr val="14243c"/>
                </a:solidFill>
                <a:latin typeface="Arial"/>
                <a:ea typeface="Arial"/>
                <a:cs typeface="Arial"/>
              </a:rPr>
              <a:t> 추후 시나리오 추가 업데이트</a:t>
            </a:r>
            <a:endParaRPr lang="ko-KR" altLang="en-US" sz="1650">
              <a:solidFill>
                <a:srgbClr val="14243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7698249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D9989-A2BB-4E59-ADE0-E804A427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EB4"/>
          </a:solidFill>
          <a:ln xmlns:a="http://schemas.openxmlformats.org/drawingml/2006/main" w="0">
            <a:solidFill>
              <a:srgbClr val="256EB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7598B-316E-4A0F-948E-D46DDF90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7. 산출물 및 개발환경</a:t>
            </a: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28650" y="104775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defRPr sz="1350" b="0">
                <a:solidFill>
                  <a:srgbClr val="5162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6274"/>
                </a:solidFill>
                <a:latin typeface="Arial"/>
                <a:ea typeface="Arial"/>
                <a:cs typeface="Arial"/>
              </a:rPr>
              <a:t>제출 기준</a:t>
            </a:r>
            <a:endParaRPr sz="1350" b="1">
              <a:solidFill>
                <a:srgbClr val="5162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85800" y="1619250"/>
            <a:ext cx="10820400" cy="457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산출물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Unity 클라이언트 소스, Express 서버 소스, 실행 APK, 상세기획서, 테스트 기록, 발표자료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개발환경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Unity 6000.4.8f1 · URP 17.4.0 · OpenXR · XR Interaction Toolkit 3.4.1 · XR Hands 1.7.3 · Input System 1.19.0 · Express · MySQL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기준 파일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  <a:p>
            <a:pPr lvl="0">
              <a:defRPr sz="1575" b="0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43c"/>
                </a:solidFill>
                <a:latin typeface="Arial"/>
                <a:ea typeface="Arial"/>
                <a:cs typeface="Arial"/>
              </a:rPr>
              <a:t>클라이언트 `Assets/Scripts`, 서버 `src/modules`, 서버 `db/migrations`, 운영 화면 `public/dashboard`</a:t>
            </a:r>
            <a:endParaRPr sz="1575" b="0">
              <a:solidFill>
                <a:srgbClr val="14243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1636328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56eb4"/>
          </a:solidFill>
          <a:ln w="0">
            <a:solidFill>
              <a:srgbClr val="256eb4"/>
            </a:solidFill>
          </a:ln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609600" y="4572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defRPr sz="2550" b="1">
                <a:solidFill>
                  <a:srgbClr val="1424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43c"/>
                </a:solidFill>
                <a:latin typeface="Arial"/>
                <a:ea typeface="Arial"/>
                <a:cs typeface="Arial"/>
              </a:rPr>
              <a:t>7. 산출물 및 개발환경</a:t>
            </a:r>
            <a:endParaRPr sz="2550" b="1">
              <a:solidFill>
                <a:srgbClr val="14243c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69496" y="1069679"/>
            <a:ext cx="8453007" cy="524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3449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340</ep:Words>
  <ep:PresentationFormat>Converted Presentation</ep:PresentationFormat>
  <ep:Paragraphs>71</ep:Paragraphs>
  <ep:Slides>9</ep:Slides>
  <ep:Notes>7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ep:HeadingPairs>
  <ep:TitlesOfParts>
    <vt:vector size="10" baseType="lpstr">
      <vt:lpstr>ChatGPT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dcterms:modified xsi:type="dcterms:W3CDTF">2026-09-15T09:00:35.313</dcterms:modified>
  <cp:revision>15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