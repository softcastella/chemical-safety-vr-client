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7562850" cy="1068863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10688638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749808"/>
            <a:ext cx="2148840" cy="310896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809244"/>
            <a:ext cx="20025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PPE PROTOTYPE · v0.7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17320"/>
            <a:ext cx="6263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8324A"/>
                </a:solidFill>
                <a:latin typeface="Malgun Gothic"/>
              </a:rPr>
              <a:t>화학물질 안전훈련 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84248"/>
            <a:ext cx="608076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337"/>
                </a:solidFill>
                <a:latin typeface="Malgun Gothic"/>
              </a:rPr>
              <a:t>PPE 착용 교육
프로토타입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594360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46BFE"/>
                </a:solidFill>
                <a:latin typeface="Malgun Gothic"/>
              </a:rPr>
              <a:t>현재 Unity 프로젝트 구현 기준 · 실무 검토용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6263640" cy="28346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553712"/>
            <a:ext cx="11430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8324A"/>
                </a:solidFill>
                <a:latin typeface="Malgun Gothic"/>
              </a:rPr>
              <a:t>문서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010912"/>
            <a:ext cx="5577840" cy="1600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111827"/>
                </a:solidFill>
                <a:latin typeface="Malgun Gothic"/>
              </a:defRPr>
            </a:pPr>
            <a:r>
              <a:t>•  현재 동작하는 PPE 교육 흐름을 요구사항과 상태 기준으로 정리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111827"/>
                </a:solidFill>
                <a:latin typeface="Malgun Gothic"/>
              </a:defRPr>
            </a:pPr>
            <a:r>
              <a:t>•  입력·UI·VOICE·PPE 판정·거울·퀴즈의 완료 조건 명문화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111827"/>
                </a:solidFill>
                <a:latin typeface="Malgun Gothic"/>
              </a:defRPr>
            </a:pPr>
            <a:r>
              <a:t>•  교육모드 안정화와 후속 훈련·테스트·관리자 개발 기준 제공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7635240"/>
            <a:ext cx="6263640" cy="105156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7763256"/>
            <a:ext cx="5934455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99178"/>
                </a:solidFill>
                <a:latin typeface="Malgun Gothic"/>
              </a:rPr>
              <a:t>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8074152"/>
            <a:ext cx="5934455" cy="50291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Malgun Gothic"/>
              </a:rPr>
              <a:t>현재 프로토타입은 PPE 착용 교육모드 한 사이클이다. 밀폐공간 교육은 별도 후속 시나리오로 관리한다.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9710928"/>
            <a:ext cx="23774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Malgun Gothic"/>
              </a:rPr>
              <a:t>작성자  최진영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9710928"/>
            <a:ext cx="1325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7280"/>
                </a:solidFill>
                <a:latin typeface="Malgun Gothic"/>
              </a:rPr>
              <a:t>A4 PORTRAIT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00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문서 관리와 사용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27048"/>
          <a:ext cx="656539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148072"/>
              </a:tblGrid>
              <a:tr h="555171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항목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555171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문서 버전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v0.7 · 원본 프로토타입 기획서와 동일 버전 유지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문서 성격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발표자료가 아닌 개발·QA·검토용 실무 기획서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5171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기준 프로젝트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Prototype_Tyche_Jinyoung · Unity 6000.4.8f1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기준 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Assets/Scenes/3_PPE_Room_HandTest_scale_0.unity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5171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실행 경로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0_App → 1_Title → 2_Intro → 6_LoadingScene_0 → PPE Room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관리 원칙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씬·Prefab·Inspector 작성값을 UI와 Transform의 기준값으로 사용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733288"/>
            <a:ext cx="6565392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5733288"/>
            <a:ext cx="64008" cy="201168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897880"/>
            <a:ext cx="6181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문서 판정 표현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6345936"/>
            <a:ext cx="6163055" cy="12527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구현: 현재 프로젝트에 코드·씬·직렬화 연결이 존재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제한: 구현됐지만 보완 또는 실기기 검증이 필요한 상태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후속: 프로토타입 이후 구현할 범위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7927848"/>
            <a:ext cx="6565392" cy="822960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805586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4545"/>
                </a:solidFill>
                <a:latin typeface="Malgun Gothic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8366760"/>
            <a:ext cx="6236207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정적 코드 확인이나 HTML/PPT 문서 검증을 Quest/OpenXR 정상 동작으로 확대 해석하지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01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프로젝트 현황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65379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Malgun Gothic"/>
              </a:rPr>
              <a:t>현재 구현과 이후 개발을 한눈에 구분한다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481328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37360"/>
            <a:ext cx="6565392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68580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25396"/>
            <a:ext cx="53949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892808"/>
            <a:ext cx="19202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F2337"/>
                </a:solidFill>
                <a:latin typeface="Malgun Gothic"/>
              </a:rPr>
              <a:t>PPE 교육모드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01952"/>
            <a:ext cx="32461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Malgun Gothic"/>
              </a:rPr>
              <a:t>전체 흐름 구현·보완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6565392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017520"/>
            <a:ext cx="685800" cy="310896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076956"/>
            <a:ext cx="53949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D68B1B"/>
                </a:solidFill>
                <a:latin typeface="Malgun Gothic"/>
              </a:rPr>
              <a:t>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944368"/>
            <a:ext cx="19202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F2337"/>
                </a:solidFill>
                <a:latin typeface="Malgun Gothic"/>
              </a:rPr>
              <a:t>PPE 훈련모드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953512"/>
            <a:ext cx="32461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Malgun Gothic"/>
              </a:rPr>
              <a:t>선택 UI·이벤트 존재 / 전용 진행 후속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6565392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069080"/>
            <a:ext cx="685800" cy="310896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128516"/>
            <a:ext cx="53949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D68B1B"/>
                </a:solidFill>
                <a:latin typeface="Malgun Gothic"/>
              </a:rPr>
              <a:t>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95928"/>
            <a:ext cx="19202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F2337"/>
                </a:solidFill>
                <a:latin typeface="Malgun Gothic"/>
              </a:rPr>
              <a:t>PPE 테스트모드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005072"/>
            <a:ext cx="32461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Malgun Gothic"/>
              </a:rPr>
              <a:t>선택 UI·이벤트 존재 / 평가·결과 후속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92040"/>
            <a:ext cx="6565392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120640"/>
            <a:ext cx="685800" cy="310896"/>
          </a:xfrm>
          <a:prstGeom prst="roundRect">
            <a:avLst/>
          </a:prstGeom>
          <a:solidFill>
            <a:srgbClr val="EEF1F5"/>
          </a:solidFill>
          <a:ln w="1016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180076"/>
            <a:ext cx="53949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6B7280"/>
                </a:solidFill>
                <a:latin typeface="Malgun Gothic"/>
              </a:rPr>
              <a:t>후속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047488"/>
            <a:ext cx="19202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F2337"/>
                </a:solidFill>
                <a:latin typeface="Malgun Gothic"/>
              </a:rPr>
              <a:t>관리자 기능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056631"/>
            <a:ext cx="32461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Malgun Gothic"/>
              </a:rPr>
              <a:t>결과 조회·이력 관리 후속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943600"/>
            <a:ext cx="6565392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6172200"/>
            <a:ext cx="685800" cy="310896"/>
          </a:xfrm>
          <a:prstGeom prst="roundRect">
            <a:avLst/>
          </a:prstGeom>
          <a:solidFill>
            <a:srgbClr val="EEF1F5"/>
          </a:solidFill>
          <a:ln w="1016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6231636"/>
            <a:ext cx="53949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6B7280"/>
                </a:solidFill>
                <a:latin typeface="Malgun Gothic"/>
              </a:rPr>
              <a:t>후속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6099048"/>
            <a:ext cx="192024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F2337"/>
                </a:solidFill>
                <a:latin typeface="Malgun Gothic"/>
              </a:rPr>
              <a:t>밀폐공간 진입 전 교육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6108192"/>
            <a:ext cx="32461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Malgun Gothic"/>
              </a:rPr>
              <a:t>별도 시나리오로 분리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7223760"/>
            <a:ext cx="6565392" cy="1143000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7351776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46BFE"/>
                </a:solidFill>
                <a:latin typeface="Malgun Gothic"/>
              </a:rPr>
              <a:t>프로토타입 완료 정의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7662672"/>
            <a:ext cx="6236207" cy="5943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Malgun Gothic"/>
              </a:rPr>
              <a:t>앱 실행부터 PPE 교육 완료·카드 복귀까지 사용자 개입으로 한 사이클을 중단 없이 완주하고, 입력·VOICE·거울·퀴즈 상태가 충돌하지 않는 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01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교육 목표와 사용자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312724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27048"/>
            <a:ext cx="64008" cy="2331720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91639"/>
            <a:ext cx="274320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주 사용자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39696"/>
            <a:ext cx="2724912" cy="15727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화학제품 제조공장 신규·전환배치 작업자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PPE 절차 재교육 대상자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VR 사용 경험이 적은 교육생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527048"/>
            <a:ext cx="318211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1527048"/>
            <a:ext cx="64008" cy="233172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691639"/>
            <a:ext cx="27980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운영 사용자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139696"/>
            <a:ext cx="2779776" cy="15727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사업장 안전관리자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교육 진행·장비 상태 확인 담당자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후속 결과 조회 기능의 사용 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270248"/>
            <a:ext cx="146304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337"/>
                </a:solidFill>
                <a:latin typeface="Malgun Gothic"/>
              </a:rPr>
              <a:t>학습 목표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754880"/>
            <a:ext cx="502920" cy="502920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910328"/>
            <a:ext cx="5029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782312"/>
            <a:ext cx="1600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작업정보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782312"/>
            <a:ext cx="4160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4B5563"/>
                </a:solidFill>
                <a:latin typeface="Malgun Gothic"/>
              </a:rPr>
              <a:t>PPE 선택 전에 태블릿 작업정보를 확인한다.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5687568"/>
            <a:ext cx="502920" cy="502920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843016"/>
            <a:ext cx="5029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1600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보호구 상태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715000"/>
            <a:ext cx="4160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4B5563"/>
                </a:solidFill>
                <a:latin typeface="Malgun Gothic"/>
              </a:rPr>
              <a:t>정상·오염·균열 보호구를 구분해 사용 또는 폐기한다.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6620256"/>
            <a:ext cx="502920" cy="502920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775704"/>
            <a:ext cx="5029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647688"/>
            <a:ext cx="1600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필수 착용 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647688"/>
            <a:ext cx="4160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4B5563"/>
                </a:solidFill>
                <a:latin typeface="Malgun Gothic"/>
              </a:rPr>
              <a:t>장비별·좌우별 조건과 테이프 보조 조건을 빠짐없이 완료한다.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7552944"/>
            <a:ext cx="502920" cy="502920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7708392"/>
            <a:ext cx="5029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7580375"/>
            <a:ext cx="1600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착용 상태 최종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7580375"/>
            <a:ext cx="4160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4B5563"/>
                </a:solidFill>
                <a:latin typeface="Malgun Gothic"/>
              </a:rPr>
              <a:t>풀장착 모델과 거울을 통해 최종 상태를 확인한다.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8485632"/>
            <a:ext cx="502920" cy="502920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8641080"/>
            <a:ext cx="5029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8513064"/>
            <a:ext cx="1600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핵심 내용 복습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8513064"/>
            <a:ext cx="4160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4B5563"/>
                </a:solidFill>
                <a:latin typeface="Malgun Gothic"/>
              </a:rPr>
              <a:t>5개 퀴즈에서 오답을 교정하고 전 문항을 완료한다.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02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실행 환경과 기술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27048"/>
          <a:ext cx="656539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40280"/>
                <a:gridCol w="2953512"/>
              </a:tblGrid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구분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현재 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검증 포인트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Unity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6000.4.8f1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컴파일·씬 참조·직렬화 유지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렌더링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URP 17.4.0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Quest 양안·투명·거울 성능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XR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OpenXR 1.17.1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Android/Quest와 PC OpenXR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Interaction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XRI 3.4.1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Ray·Direct·Teleport 입력 분리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Hands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XR Hands 1.7.3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손 표시·PPE 장갑 상태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Input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Input System 1.19.0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Trigger·Grip·Joystick 우선순위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타깃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Meta Quest 2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72Hz 목표·양안·오디오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TTS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ElevenLabs 박현미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상태별 클립·중첩 방지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6830568"/>
            <a:ext cx="6565392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6830568"/>
            <a:ext cx="64008" cy="1828800"/>
          </a:xfrm>
          <a:prstGeom prst="roundRect">
            <a:avLst/>
          </a:prstGeom>
          <a:solidFill>
            <a:srgbClr val="CD4545"/>
          </a:solidFill>
          <a:ln w="10160">
            <a:solidFill>
              <a:srgbClr val="CD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6995159"/>
            <a:ext cx="6181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필수 기술 원칙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7443216"/>
            <a:ext cx="6163055" cy="10698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필수 참조 누락은 런타임 자동 수리 대신 명확한 오류로 중단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UI 표현값은 Scene·Prefab·Inspector가 기준이며 런타임은 상태만 변경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XR 입력 성공은 Game View 마우스가 아니라 실물 장치 이벤트로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02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앱 실행·장면 전환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18487"/>
            <a:ext cx="59893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74519"/>
            <a:ext cx="457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46BFE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73935"/>
            <a:ext cx="3291840" cy="2651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2337"/>
                </a:solidFill>
                <a:latin typeface="Malgun Gothic"/>
              </a:rPr>
              <a:t>0_App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093976"/>
            <a:ext cx="45262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Malgun Gothic"/>
              </a:rPr>
              <a:t>앱 공통 초기화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51176"/>
            <a:ext cx="45720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6BFE"/>
                </a:solidFill>
                <a:latin typeface="Malgun Gothic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44368"/>
            <a:ext cx="59893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00400"/>
            <a:ext cx="457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46BFE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99815"/>
            <a:ext cx="3291840" cy="2651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2337"/>
                </a:solidFill>
                <a:latin typeface="Malgun Gothic"/>
              </a:rPr>
              <a:t>1_Title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19856"/>
            <a:ext cx="45262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Malgun Gothic"/>
              </a:rPr>
              <a:t>로고·타이틀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77056"/>
            <a:ext cx="45720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6BFE"/>
                </a:solidFill>
                <a:latin typeface="Malgun Gothic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70248"/>
            <a:ext cx="59893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26280"/>
            <a:ext cx="457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46BFE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291840" cy="2651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2337"/>
                </a:solidFill>
                <a:latin typeface="Malgun Gothic"/>
              </a:rPr>
              <a:t>2_Intro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745736"/>
            <a:ext cx="45262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Malgun Gothic"/>
              </a:rPr>
              <a:t>교육 목적·주의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202936"/>
            <a:ext cx="45720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6BFE"/>
                </a:solidFill>
                <a:latin typeface="Malgun Gothic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596127"/>
            <a:ext cx="59893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52159"/>
            <a:ext cx="457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46BFE"/>
                </a:solidFill>
                <a:latin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751575"/>
            <a:ext cx="3291840" cy="2651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2337"/>
                </a:solidFill>
                <a:latin typeface="Malgun Gothic"/>
              </a:rPr>
              <a:t>6_LoadingScene_0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6071615"/>
            <a:ext cx="45262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Malgun Gothic"/>
              </a:rPr>
              <a:t>비동기 로딩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6528815"/>
            <a:ext cx="45720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6BFE"/>
                </a:solidFill>
                <a:latin typeface="Malgun Gothic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6922007"/>
            <a:ext cx="59893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7178040"/>
            <a:ext cx="457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46BFE"/>
                </a:solidFill>
                <a:latin typeface="Malgun Gothic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7077455"/>
            <a:ext cx="3291840" cy="2651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2337"/>
                </a:solidFill>
                <a:latin typeface="Malgun Gothic"/>
              </a:rPr>
              <a:t>3_PPE_Room_HandTest_scale_0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7397496"/>
            <a:ext cx="45262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Malgun Gothic"/>
              </a:rPr>
              <a:t>PPE 교육 실행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8385048"/>
            <a:ext cx="6565392" cy="10058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851306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99178"/>
                </a:solidFill>
                <a:latin typeface="Malgun Gothic"/>
              </a:rPr>
              <a:t>로딩 완료 조건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8823960"/>
            <a:ext cx="6236207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0~100% 표시가 역행하지 않고 100% 유지 후 PPE 장면을 한 번만 활성화한다. 전환 뒤 XR Origin·입력·오디오가 정상이어야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02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PPE 교육 상태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65379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Malgun Gothic"/>
              </a:rPr>
              <a:t>VOICE·UI·입력 게이트가 동일 상태를 공유한다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481328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73736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92808"/>
            <a:ext cx="402336" cy="402336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8424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1" y="188366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Welcome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217627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첫 안내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202996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0632" y="173736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98648" y="1892808"/>
            <a:ext cx="402336" cy="402336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8648" y="198424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188366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NameInput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217627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한글 이름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024" y="202996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173736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38928" y="1892808"/>
            <a:ext cx="402336" cy="402336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198424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188366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217627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간단 조작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15468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3310128"/>
            <a:ext cx="402336" cy="402336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40156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1" y="330098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1" y="359359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PPE 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3744" y="344728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70632" y="315468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98648" y="3310128"/>
            <a:ext cx="402336" cy="402336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98648" y="340156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0712" y="330098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Modal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359359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교육 선택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4024" y="344728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10912" y="315468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38928" y="3310128"/>
            <a:ext cx="402336" cy="402336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38928" y="340156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330098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Mode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0992" y="359359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교육모드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" y="457200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727448"/>
            <a:ext cx="402336" cy="402336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81888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1" y="471830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Move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1" y="501091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PPE 구역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23744" y="486460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70632" y="457200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898648" y="4727448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8648" y="481888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10712" y="471830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Tablet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10712" y="501091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작업정보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64024" y="486460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10912" y="457200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138928" y="4727448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38928" y="481888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0992" y="471830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PPE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50992" y="501091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점검·착용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0352" y="598932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8368" y="6144768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623620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0431" y="613562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Mirror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70431" y="642823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5초 확인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23744" y="628192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70632" y="598932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898648" y="6144768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8648" y="623620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10712" y="613562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Quiz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10712" y="642823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5문제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4024" y="6281928"/>
            <a:ext cx="237744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10912" y="5989320"/>
            <a:ext cx="199339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138928" y="6144768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38928" y="6236208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50992" y="6135624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Return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50992" y="6428232"/>
            <a:ext cx="1225296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카드 복귀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" y="7680960"/>
            <a:ext cx="6565392" cy="1097280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" y="7808976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46BFE"/>
                </a:solidFill>
                <a:latin typeface="Malgun Gothic"/>
              </a:rPr>
              <a:t>상태 전이 원칙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512" y="8119872"/>
            <a:ext cx="6236207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11827"/>
                </a:solidFill>
                <a:latin typeface="Malgun Gothic"/>
              </a:rPr>
              <a:t>각 상태는 화면 표시, VOICE, 허용 입력과 완료 조건을 함께 전환한다. 이전 상태의 UI·AudioClip·코루틴이 다음 상태에 남아서는 안 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03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PPE 전용 컨트롤러 조작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656539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709928"/>
            <a:ext cx="1051560" cy="658368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11095"/>
            <a:ext cx="10515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1691639"/>
            <a:ext cx="12344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0F2337"/>
                </a:solidFill>
                <a:latin typeface="Malgun Gothic"/>
              </a:rPr>
              <a:t>UI 지시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691639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4B5563"/>
                </a:solidFill>
                <a:latin typeface="Malgun Gothic"/>
              </a:rPr>
              <a:t>카드·모달·Action Panel·퀴즈를 가리킨다.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656539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063240"/>
            <a:ext cx="1051560" cy="658368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64408"/>
            <a:ext cx="10515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3044952"/>
            <a:ext cx="12344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0F2337"/>
                </a:solidFill>
                <a:latin typeface="Malgun Gothic"/>
              </a:rPr>
              <a:t>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3044952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4B5563"/>
                </a:solidFill>
                <a:latin typeface="Malgun Gothic"/>
              </a:rPr>
              <a:t>UI 선택, 태블릿 확인, 조건부 VOICE 스킵.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33672"/>
            <a:ext cx="656539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4416552"/>
            <a:ext cx="1051560" cy="658368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617720"/>
            <a:ext cx="10515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Grip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4398264"/>
            <a:ext cx="12344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0F2337"/>
                </a:solidFill>
                <a:latin typeface="Malgun Gothic"/>
              </a:rPr>
              <a:t>직접 Grab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4398264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4B5563"/>
                </a:solidFill>
                <a:latin typeface="Malgun Gothic"/>
              </a:rPr>
              <a:t>태블릿·마커 PPE를 잡고 재입력으로 놓는다.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86983"/>
            <a:ext cx="656539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5769864"/>
            <a:ext cx="1051560" cy="658368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971031"/>
            <a:ext cx="10515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Joystick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5751575"/>
            <a:ext cx="12344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0F2337"/>
                </a:solidFill>
                <a:latin typeface="Malgun Gothic"/>
              </a:rPr>
              <a:t>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5751575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4B5563"/>
                </a:solidFill>
                <a:latin typeface="Malgun Gothic"/>
              </a:rPr>
              <a:t>텔레포트 Ray를 켜고 유효 위치마커를 선택한다.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940296"/>
            <a:ext cx="656539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232" y="7123176"/>
            <a:ext cx="1051560" cy="658368"/>
          </a:xfrm>
          <a:prstGeom prst="roundRect">
            <a:avLst/>
          </a:prstGeom>
          <a:solidFill>
            <a:srgbClr val="4B5563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7324344"/>
            <a:ext cx="10515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A 버튼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93392" y="7104888"/>
            <a:ext cx="12344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0F2337"/>
                </a:solidFill>
                <a:latin typeface="Malgun Gothic"/>
              </a:rPr>
              <a:t>예비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7104888"/>
            <a:ext cx="356616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4B5563"/>
                </a:solidFill>
                <a:latin typeface="Malgun Gothic"/>
              </a:rPr>
              <a:t>키보드 옆 안내 표시는 있으나 현재 기능 연결은 없다.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8476488"/>
            <a:ext cx="6565392" cy="914400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860450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4545"/>
                </a:solidFill>
                <a:latin typeface="Malgun Gothic"/>
              </a:rPr>
              <a:t>입력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8915400"/>
            <a:ext cx="6236207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Ray hover는 Trigger 클릭 성공의 증거가 아니다. Quest에서는 PointerDown·Up·Click 또는 XRI Select 이벤트를 각각 확인한다.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03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Trigger 우선순위와 이동 게이트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27048"/>
            <a:ext cx="64922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337"/>
                </a:solidFill>
                <a:latin typeface="Malgun Gothic"/>
              </a:rPr>
              <a:t>한 번의 Trigger 입력은 한 소비자만 처리한다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12848"/>
            <a:ext cx="59893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414016"/>
            <a:ext cx="512064" cy="512064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69464"/>
            <a:ext cx="512064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77440"/>
            <a:ext cx="18288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0F2337"/>
                </a:solidFill>
                <a:latin typeface="Malgun Gothic"/>
              </a:rPr>
              <a:t>활성 UI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377440"/>
            <a:ext cx="301752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카드·모달·버튼·Action Panel·퀴즈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84448"/>
            <a:ext cx="59893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785615"/>
            <a:ext cx="512064" cy="512064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3"/>
            <a:ext cx="512064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49039"/>
            <a:ext cx="18288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0F2337"/>
                </a:solidFill>
                <a:latin typeface="Malgun Gothic"/>
              </a:rPr>
              <a:t>잡은 태블릿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749039"/>
            <a:ext cx="301752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체크·서명·도장 단일 시퀀스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56048"/>
            <a:ext cx="59893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5157216"/>
            <a:ext cx="512064" cy="512064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12664"/>
            <a:ext cx="512064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120640"/>
            <a:ext cx="18288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0F2337"/>
                </a:solidFill>
                <a:latin typeface="Malgun Gothic"/>
              </a:rPr>
              <a:t>VOICE 건너뛰기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301752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상위 소비자가 없고 음성이 재생 중일 때만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6464808"/>
            <a:ext cx="656539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6464808"/>
            <a:ext cx="64008" cy="214884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6629400"/>
            <a:ext cx="6181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텔레포트 게이트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7077456"/>
            <a:ext cx="6163055" cy="1389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Joystick 기반 이동 인터랙터는 UI Ray와 별도 제어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모달·완료 전환 중 비활성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교육 시작 뒤 유효 위치마커에만 착지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현재 텔레포트 자체 화면 페이드는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04 AUDIO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VOICE·TTS 운영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315468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27048"/>
            <a:ext cx="64008" cy="2560320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91639"/>
            <a:ext cx="2770632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선정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39696"/>
            <a:ext cx="2752344" cy="18013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서비스: ElevenLabs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보이스: 박현미 모델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톤: 뉴트럴 60% · 아나운서 20% · 온화함 20%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비용: Starter 월 6달러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527048"/>
            <a:ext cx="3182112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1527048"/>
            <a:ext cx="64008" cy="256032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691639"/>
            <a:ext cx="27980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선정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139696"/>
            <a:ext cx="2779776" cy="18013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동종 서비스 대비 자연스러운 딕션과 어투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본 VR의 안전교육 톤앤매너에 적합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20">
                <a:solidFill>
                  <a:srgbClr val="4B5563"/>
                </a:solidFill>
                <a:latin typeface="Malgun Gothic"/>
              </a:defRPr>
            </a:pPr>
            <a:r>
              <a:t>•  기본 크레딧과 저비용 구독으로 반복 제작 가능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4407408"/>
          <a:ext cx="656539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57400"/>
                <a:gridCol w="3273552"/>
              </a:tblGrid>
              <a:tr h="5562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구분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발생 시점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처리 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5562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단계 안내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상태 진입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상태별 한 번 재생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조건 안내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선행조건 누락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해당 조건만 보충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62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오답 안내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잘못된 판정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모드별 피드백 수준 적용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건너뛰기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Trigger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UI·태블릿 미소비 시만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62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완료 안내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최종 정답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복귀 전환보다 먼저 재생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02920" y="8019288"/>
            <a:ext cx="6565392" cy="777240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814730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4545"/>
                </a:solidFill>
                <a:latin typeface="Malgun Gothic"/>
              </a:rPr>
              <a:t>중복 방지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8458200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새 상태 진입 시 이전 클립·로딩·코루틴을 정리하고 동일 클립이 겹쳐 재생되지 않게 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05 EDUCATION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PPE 착용 교육 전체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9961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700784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60219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609343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609343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Welcome → 이름 입력 → 간단 컨트롤러 안내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5973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660904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720340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569464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569464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PPE 카드 → 상세 모달 → PPE 착용교육 → 교육모드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1985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621024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680460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29584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529584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텔레포트로 PPE 구역 도착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7997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581144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640580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489704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문서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89704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태블릿 Grab → Trigger 1회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4009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5541264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600700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449824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점검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449824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마커 PPE Grab → 사용·폐기 판정 → 착용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630021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6501383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6560820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6409944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최종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6409944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풀장착 모델 → 거울 5초 확인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726033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" y="7461504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7520940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7370064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복습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7370064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5페이지·3지선다 퀴즈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8220456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8421624"/>
            <a:ext cx="50292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8481060"/>
            <a:ext cx="35661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8330183"/>
            <a:ext cx="960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종료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8330183"/>
            <a:ext cx="4160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B5563"/>
                </a:solidFill>
                <a:latin typeface="Malgun Gothic"/>
              </a:rPr>
              <a:t>VOICE → 손·Ray 숨김 → 페이드 → 카드 복귀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05 EDUCATION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진입 단계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65379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Malgun Gothic"/>
              </a:rPr>
              <a:t>Welcome · 이름 입력 · Controller Simp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481328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737360"/>
          <a:ext cx="656539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234440"/>
                <a:gridCol w="1508760"/>
                <a:gridCol w="1417320"/>
                <a:gridCol w="1444752"/>
              </a:tblGrid>
              <a:tr h="8229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상태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사용자 입력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처리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완료 조건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예외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8229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Welcome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없음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이름·Enter 안내 VOICE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안내 종료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Clip 누락 시 다음 상태 금지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NameInput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한글 키·삭제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조합 문자열 표시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Enter 제출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빈 이름 정책 후속 확정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Submit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Enter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SubmittedName 전달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이벤트 1회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Ray fallthrough 차단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Controller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안내 확인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Ray·Trigger·Grip·Joystick 설명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001~005 종료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A는 시각 표시만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6126479"/>
            <a:ext cx="6565392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6126479"/>
            <a:ext cx="64008" cy="2057400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6291071"/>
            <a:ext cx="6181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Controller Simp 화면 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739127"/>
            <a:ext cx="6163055" cy="1298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001~002: 1_Ray · Card/Panel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003: 2_Marker · 직접 Grab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004~005: 3_Ray_T · 텔레포트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미니 가이드는 Main Camera 자식 World Space Canvas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8412480"/>
            <a:ext cx="6565392" cy="77724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8540496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8B1B"/>
                </a:solidFill>
                <a:latin typeface="Malgun Gothic"/>
              </a:rPr>
              <a:t>현재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8851392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키보드 옆 A 표시는 긴 Controller Edu 진입 기능이 연결되지 않은 비상호작용 안내 요소다.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05 EDUCATION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카드·모달·모드·이동 명세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656539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39"/>
            <a:ext cx="1417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2337"/>
                </a:solidFill>
                <a:latin typeface="Malgun Gothic"/>
              </a:rPr>
              <a:t>카드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691639"/>
            <a:ext cx="201168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PPE 상세 모달 표시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28216"/>
            <a:ext cx="237744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787651"/>
            <a:ext cx="2231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카드만 모달을 연다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52928"/>
            <a:ext cx="656539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417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2337"/>
                </a:solidFill>
                <a:latin typeface="Malgun Gothic"/>
              </a:rPr>
              <a:t>PPE 착용교육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017520"/>
            <a:ext cx="201168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교육 종류 선택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054096"/>
            <a:ext cx="237744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3113532"/>
            <a:ext cx="2231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즉시 모달을 닫지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78808"/>
            <a:ext cx="656539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1417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2337"/>
                </a:solidFill>
                <a:latin typeface="Malgun Gothic"/>
              </a:rPr>
              <a:t>교육모드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343400"/>
            <a:ext cx="201168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모달 종료·이동 안내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4379976"/>
            <a:ext cx="2377440" cy="310896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4439412"/>
            <a:ext cx="2231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D68B1B"/>
                </a:solidFill>
                <a:latin typeface="Malgun Gothic"/>
              </a:rPr>
              <a:t>훈련·테스트는 현재 진행하지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04688"/>
            <a:ext cx="656539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79"/>
            <a:ext cx="1417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2337"/>
                </a:solidFill>
                <a:latin typeface="Malgun Gothic"/>
              </a:rPr>
              <a:t>Joystick 이동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669279"/>
            <a:ext cx="201168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PPE 위치마커 텔레포트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5705855"/>
            <a:ext cx="237744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3984" y="5765292"/>
            <a:ext cx="2231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모달 중 차단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830568"/>
            <a:ext cx="656539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995159"/>
            <a:ext cx="1417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2337"/>
                </a:solidFill>
                <a:latin typeface="Malgun Gothic"/>
              </a:rPr>
              <a:t>PPE 구역 도착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6995159"/>
            <a:ext cx="201168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태블릿·PPE 단계 활성화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7031736"/>
            <a:ext cx="2377440" cy="31089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4" y="7091172"/>
            <a:ext cx="2231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99178"/>
                </a:solidFill>
                <a:latin typeface="Malgun Gothic"/>
              </a:rPr>
              <a:t>도착 이벤트 1회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8385048"/>
            <a:ext cx="6565392" cy="914400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851306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4545"/>
                </a:solidFill>
                <a:latin typeface="Malgun Gothic"/>
              </a:rPr>
              <a:t>보존 조건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8823960"/>
            <a:ext cx="6236207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카드 입력, 모달 XRI 버튼, 텔레포트 입력을 하나의 fallback으로 합치지 않는다. 각 입력 소비자의 실제 이벤트 경로를 유지한다.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05 EDUCATION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태블릿 작업정보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315468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27048"/>
            <a:ext cx="64008" cy="2514600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91639"/>
            <a:ext cx="2770632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사용자 행동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39696"/>
            <a:ext cx="2752344" cy="17556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Grip으로 태블릿을 잡는다.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잡은 상태에서 Trigger를 한 번 누른다.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50">
                <a:solidFill>
                  <a:srgbClr val="4B5563"/>
                </a:solidFill>
                <a:latin typeface="Malgun Gothic"/>
              </a:defRPr>
            </a:pPr>
            <a:r>
              <a:t>•  체크·서명·도장 연출이 끝날 때까지 기다린다.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527048"/>
            <a:ext cx="3182112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1527048"/>
            <a:ext cx="64008" cy="251460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691639"/>
            <a:ext cx="27980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시스템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139696"/>
            <a:ext cx="2779776" cy="17556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>
                <a:solidFill>
                  <a:srgbClr val="4B5563"/>
                </a:solidFill>
                <a:latin typeface="Malgun Gothic"/>
              </a:defRPr>
            </a:pPr>
            <a:r>
              <a:t>•  필수 항목 체크 → 서명 → 도장 순차 실행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00">
                <a:solidFill>
                  <a:srgbClr val="4B5563"/>
                </a:solidFill>
                <a:latin typeface="Malgun Gothic"/>
              </a:defRPr>
            </a:pPr>
            <a:r>
              <a:t>•  시퀀스 중 추가 Trigger 차단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00">
                <a:solidFill>
                  <a:srgbClr val="4B5563"/>
                </a:solidFill>
                <a:latin typeface="Malgun Gothic"/>
              </a:defRPr>
            </a:pPr>
            <a:r>
              <a:t>•  완료 시 IsDocumentCompleted 설정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00">
                <a:solidFill>
                  <a:srgbClr val="4B5563"/>
                </a:solidFill>
                <a:latin typeface="Malgun Gothic"/>
              </a:defRPr>
            </a:pPr>
            <a:r>
              <a:t>•  태블릿 Grab 중 방호복 Grab 차단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4453128"/>
          <a:ext cx="656539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286000"/>
                <a:gridCol w="2770632"/>
              </a:tblGrid>
              <a:tr h="585216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상태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허용 입력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판정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585216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미Grab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Grip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태블릿 선택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Grab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Trigger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단일 확인 시퀀스 시작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85216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처리 중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없음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재입력 무시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Grip Release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 단계 선행조건 충족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02920" y="7699248"/>
            <a:ext cx="6565392" cy="91440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782726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8B1B"/>
                </a:solidFill>
                <a:latin typeface="Malgun Gothic"/>
              </a:rPr>
              <a:t>제외된 이전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8138160"/>
            <a:ext cx="6236207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>
                <a:solidFill>
                  <a:srgbClr val="111827"/>
                </a:solidFill>
                <a:latin typeface="Malgun Gothic"/>
              </a:rPr>
              <a:t>B 버튼 페이지 이동, 마지막 페이지 전체 확인, 별도 서명 Trigger는 현재 PPE 태블릿 흐름에서 사용하지 않는다.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05 EDUCATION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PPE 점검·판정 공통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27048"/>
          <a:ext cx="656539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560320"/>
                <a:gridCol w="2862072"/>
              </a:tblGrid>
              <a:tr h="7239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구분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처리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불변조건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선택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아이템 마커가 표시된 PPE를 손으로 직접 Grab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원거리 UI Ray 선택 금지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Action Panel의 사용 선택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착용 연출 후 풀장착 자식 활성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불량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Action Panel의 폐기 선택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동일 검사 오브젝트를 깨끗한 상태로 복원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오선택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정상/불량과 다른 버튼 선택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완료 처리 금지·모드별 오류 피드백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7239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Release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Grip 재입력 또는 처리 취소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씬에서 작성한 위치·회전·스케일 복원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6190488"/>
            <a:ext cx="65653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6190488"/>
            <a:ext cx="64008" cy="196596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6355080"/>
            <a:ext cx="6181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상태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6803136"/>
            <a:ext cx="6163055" cy="12070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Idle → Marked → Held → Decision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Decision → Used 또는 Discarded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Discarded → CleanReady → Held → Used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Used 상태는 재선택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8385048"/>
            <a:ext cx="6565392" cy="822960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851306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4545"/>
                </a:solidFill>
                <a:latin typeface="Malgun Gothic"/>
              </a:rPr>
              <a:t>중요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8823960"/>
            <a:ext cx="6236207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11827"/>
                </a:solidFill>
                <a:latin typeface="Malgun Gothic"/>
              </a:rPr>
              <a:t>폐기 뒤 새 프리팹을 생성하지 않는다. 동일 검사 오브젝트의 결함 시각물과 상태를 정상으로 전환한다.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05 EDUCATION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PPE 항목·완료 조건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99616"/>
          <a:ext cx="6748272" cy="672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960120"/>
                <a:gridCol w="1417320"/>
                <a:gridCol w="1234440"/>
                <a:gridCol w="1965960"/>
              </a:tblGrid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항목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좌우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불량 처리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장착 표시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완료 조건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방호복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단일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폐기→정상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Suit 루트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사용 완료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호흡보호구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단일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균열 폐기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Mirror Only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사용 완료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안전모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단일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상태 판정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Mirror Only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사용 완료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안전대(등지게)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단일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상태 판정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Suit 자식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사용 완료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장갑 L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상태 판정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왼손/자식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좌 완료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장갑 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우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상태 판정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오른손/자식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우 완료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장화 L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오염 폐기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Suit 자식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좌 완료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장화 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우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오염 폐기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Suit 자식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우 완료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10985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테이프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보조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해당 없음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보조 상태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필수 선행조건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1099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거울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최종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해당 없음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평면 반사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5초 확인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8476488"/>
            <a:ext cx="6748272" cy="914400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8604504"/>
            <a:ext cx="6419088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46BFE"/>
                </a:solidFill>
                <a:latin typeface="Malgun Gothic"/>
              </a:rPr>
              <a:t>최종 PPE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8915400"/>
            <a:ext cx="6419088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필수 장비의 사용 완료 + 좌·우 장갑·장화 완료 + 테이프 조건 + 태블릿 완료가 모두 충족되어야 거울 최종 확인을 통과할 수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06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공용 Action Panel 소유권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6565392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2337"/>
                </a:solidFill>
                <a:latin typeface="Malgun Gothic"/>
              </a:rPr>
              <a:t>PPE마다 패널을 만들지 않고 하나의 패널을 현재 Grab PPE가 소유한다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12848"/>
          <a:ext cx="6565391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74519"/>
                <a:gridCol w="3502152"/>
              </a:tblGrid>
              <a:tr h="7086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이벤트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패널 처리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검증 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7086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Grab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소유 요청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처리 중이 아니면 현재 PPE로 교체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표시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사용·폐기 버튼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 상태와 동일 위치 정책 사용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7086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버튼 Trigger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현재 소유 PPE에만 결과 전달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Release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소유 해제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패널 숨김·리스너 정리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7086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Used/Discarded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중복 이벤트 차단 후 소유 해제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6784848"/>
            <a:ext cx="65653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6784848"/>
            <a:ext cx="64008" cy="1965960"/>
          </a:xfrm>
          <a:prstGeom prst="roundRect">
            <a:avLst/>
          </a:prstGeom>
          <a:solidFill>
            <a:srgbClr val="CD4545"/>
          </a:solidFill>
          <a:ln w="10160">
            <a:solidFill>
              <a:srgbClr val="CD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6949440"/>
            <a:ext cx="6181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경쟁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7397496"/>
            <a:ext cx="6163055" cy="12070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양손이 서로 다른 PPE를 동시에 Grab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판정 처리 중 새 PPE Grab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이전 PPE Release 뒤 버튼 리스너 잔류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패널 인스턴스 중복 생성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06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풀장착 모델 결합 로직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1371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단일 기준 계층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75688"/>
            <a:ext cx="1920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PPE Body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42616"/>
            <a:ext cx="16459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4B5563"/>
                </a:solidFill>
                <a:latin typeface="Malgun Gothic"/>
              </a:rPr>
              <a:t>몸 추적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2404872"/>
            <a:ext cx="347472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6BFE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487168"/>
            <a:ext cx="1920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670048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PPE_A_SuitWear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054096"/>
            <a:ext cx="16459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4B5563"/>
                </a:solidFill>
                <a:latin typeface="Malgun Gothic"/>
              </a:rPr>
              <a:t>방호복 풀장착 루트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816352"/>
            <a:ext cx="347472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6BFE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898648"/>
            <a:ext cx="1920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081528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장비 자식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465576"/>
            <a:ext cx="16459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4B5563"/>
                </a:solidFill>
                <a:latin typeface="Malgun Gothic"/>
              </a:rPr>
              <a:t>마스크·안전모·안전대·장갑·장화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53128"/>
            <a:ext cx="315468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453128"/>
            <a:ext cx="64008" cy="2834640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617720"/>
            <a:ext cx="2770632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몸 추적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065776"/>
            <a:ext cx="2752344" cy="20756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HMD의 X/Z 위치 추종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Yaw는 완화해 회전 추종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씬에서 작성한 Y 높이 유지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바닥 접지는 루트 Pivot이 아닌 Renderer Bounds 최저점으로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453128"/>
            <a:ext cx="3182112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86200" y="4453128"/>
            <a:ext cx="64008" cy="283464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8" y="4617720"/>
            <a:ext cx="27980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장비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5065776"/>
            <a:ext cx="2779776" cy="20756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사용 완료 PPE의 대응 자식만 활성화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마스크·안전모는 본체 시야 방지를 위해 Mirror Only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거울이 별도 모델을 이동시키지 않고 동일 계층 상태를 반영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80">
                <a:solidFill>
                  <a:srgbClr val="4B5563"/>
                </a:solidFill>
                <a:latin typeface="Malgun Gothic"/>
              </a:defRPr>
            </a:pPr>
            <a:r>
              <a:t>•  물리적 몸 슬롯·Snap 판정은 사용하지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7653527"/>
            <a:ext cx="6565392" cy="91440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778154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8B1B"/>
                </a:solidFill>
                <a:latin typeface="Malgun Gothic"/>
              </a:rPr>
              <a:t>착용 연출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8092440"/>
            <a:ext cx="6236207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11827"/>
                </a:solidFill>
                <a:latin typeface="Malgun Gothic"/>
              </a:rPr>
              <a:t>사용 확정 후 약 1.8초의 공통 착용 연출을 거쳐 검사 오브젝트 처리와 풀장착 자식 활성화를 같은 판정에서 실행한다.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06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거울 최종 확인 로직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315468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27048"/>
            <a:ext cx="64008" cy="2560320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91639"/>
            <a:ext cx="2770632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진입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39696"/>
            <a:ext cx="2752344" cy="18013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필수 PPE와 테이프 조건 완료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태블릿 IsDocumentCompleted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거울 약 1.2m 이내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사용자 시선이 거울 방향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527048"/>
            <a:ext cx="3182112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1527048"/>
            <a:ext cx="64008" cy="2560320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691639"/>
            <a:ext cx="27980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렌더링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139696"/>
            <a:ext cx="2779776" cy="18013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평면 반사 카메라 사용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RenderTexture 640×1472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마스크·안전모 Mirror Only 레이어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110">
                <a:solidFill>
                  <a:srgbClr val="4B5563"/>
                </a:solidFill>
                <a:latin typeface="Malgun Gothic"/>
              </a:defRPr>
            </a:pPr>
            <a:r>
              <a:t>•  본체·반사 방향·Y·바닥 접지 일치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453128"/>
            <a:ext cx="14630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확인 시퀀스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001768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" y="5157216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248656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148072"/>
            <a:ext cx="1197864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조건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440679"/>
            <a:ext cx="1197864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게이지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1176" y="5303520"/>
            <a:ext cx="256032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001768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62656" y="5157216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5248656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48072"/>
            <a:ext cx="1197864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5초 관찰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440679"/>
            <a:ext cx="1197864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진행률 증가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5303520"/>
            <a:ext cx="256032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5001768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02936" y="5157216"/>
            <a:ext cx="402336" cy="402336"/>
          </a:xfrm>
          <a:prstGeom prst="roundRect">
            <a:avLst/>
          </a:prstGeom>
          <a:solidFill>
            <a:srgbClr val="199178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2936" y="5248656"/>
            <a:ext cx="4023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148072"/>
            <a:ext cx="1197864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2337"/>
                </a:solidFill>
                <a:latin typeface="Malgun Gothic"/>
              </a:rPr>
              <a:t>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5440679"/>
            <a:ext cx="1197864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90" b="0">
                <a:solidFill>
                  <a:srgbClr val="4B5563"/>
                </a:solidFill>
                <a:latin typeface="Malgun Gothic"/>
              </a:rPr>
              <a:t>퀴즈 활성화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464808"/>
            <a:ext cx="6565392" cy="960120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659282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4545"/>
                </a:solidFill>
                <a:latin typeface="Malgun Gothic"/>
              </a:rPr>
              <a:t>현재 보완점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6903720"/>
            <a:ext cx="6236207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11827"/>
                </a:solidFill>
                <a:latin typeface="Malgun Gothic"/>
              </a:rPr>
              <a:t>현 구현은 조건 진입 뒤 5초 동안 거리·시선 이탈을 계속 재검사하지 않는다. 타이머 중 조건 이탈 시 초기화하도록 보완한다.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7699248"/>
            <a:ext cx="656539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7699248"/>
            <a:ext cx="64008" cy="1508760"/>
          </a:xfrm>
          <a:prstGeom prst="round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7863840"/>
            <a:ext cx="6181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Quest 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8311896"/>
            <a:ext cx="6163055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40">
                <a:solidFill>
                  <a:srgbClr val="4B5563"/>
                </a:solidFill>
                <a:latin typeface="Malgun Gothic"/>
              </a:defRPr>
            </a:pPr>
            <a:r>
              <a:t>•  거울 Off/On 성능 비교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40">
                <a:solidFill>
                  <a:srgbClr val="4B5563"/>
                </a:solidFill>
                <a:latin typeface="Malgun Gothic"/>
              </a:defRPr>
            </a:pPr>
            <a:r>
              <a:t>•  양안 위치·방향 일치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40">
                <a:solidFill>
                  <a:srgbClr val="4B5563"/>
                </a:solidFill>
                <a:latin typeface="Malgun Gothic"/>
              </a:defRPr>
            </a:pPr>
            <a:r>
              <a:t>•  주변 시야 깨짐·검은 화면 확인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40">
                <a:solidFill>
                  <a:srgbClr val="4B5563"/>
                </a:solidFill>
                <a:latin typeface="Malgun Gothic"/>
              </a:defRPr>
            </a:pPr>
            <a:r>
              <a:t>•  RenderTexture 해상도 대안 기록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05 EDUCATION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퀴즈와 교육 완료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27048"/>
          <a:ext cx="656539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54480"/>
                <a:gridCol w="1828800"/>
                <a:gridCol w="2039112"/>
              </a:tblGrid>
              <a:tr h="65532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구분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입력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처리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완료 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65532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문제 구성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Ray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5페이지·보기 3개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현재 문제만 선택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오답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Trigger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경고 후 같은 문제 유지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재선택 가능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5532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정답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Trigger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완료 피드백 후 자동 이동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중복 전환 없음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최종 정답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자동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완료 흐름 1회 호출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다섯 문제 정답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5532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점수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없음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현재 산정·저장하지 않음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후속 모드에서 추가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0352" y="5870448"/>
            <a:ext cx="1645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완료 전환 순서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6400800"/>
            <a:ext cx="11430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99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56248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99178"/>
                </a:solidFill>
                <a:latin typeface="Malgun Gothi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830568"/>
            <a:ext cx="9144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F2337"/>
                </a:solidFill>
                <a:latin typeface="Malgun Gothic"/>
              </a:rPr>
              <a:t>완료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" y="6684264"/>
            <a:ext cx="228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47088" y="6400800"/>
            <a:ext cx="11430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6556248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99178"/>
                </a:solidFill>
                <a:latin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6816" y="6830568"/>
            <a:ext cx="9144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F2337"/>
                </a:solidFill>
                <a:latin typeface="Malgun Gothic"/>
              </a:rPr>
              <a:t>손·Ray 숨김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6684264"/>
            <a:ext cx="228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8688" y="6400800"/>
            <a:ext cx="11430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6556248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99178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6830568"/>
            <a:ext cx="9144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F2337"/>
                </a:solidFill>
                <a:latin typeface="Malgun Gothic"/>
              </a:rPr>
              <a:t>화면 페이드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6684264"/>
            <a:ext cx="228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6400800"/>
            <a:ext cx="11430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6556248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99178"/>
                </a:solidFill>
                <a:latin typeface="Malgun Gothi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6830568"/>
            <a:ext cx="9144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F2337"/>
                </a:solidFill>
                <a:latin typeface="Malgun Gothic"/>
              </a:rPr>
              <a:t>PPE 카드 위치 복귀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6684264"/>
            <a:ext cx="228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61888" y="6400800"/>
            <a:ext cx="11430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7" y="6556248"/>
            <a:ext cx="274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99178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1616" y="6830568"/>
            <a:ext cx="9144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F2337"/>
                </a:solidFill>
                <a:latin typeface="Malgun Gothic"/>
              </a:rPr>
              <a:t>상태 복원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7653527"/>
            <a:ext cx="6565392" cy="82296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778154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8B1B"/>
                </a:solidFill>
                <a:latin typeface="Malgun Gothic"/>
              </a:rPr>
              <a:t>현재 제한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8092440"/>
            <a:ext cx="6236207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11827"/>
                </a:solidFill>
                <a:latin typeface="Malgun Gothic"/>
              </a:rPr>
              <a:t>별도 점수 결과 화면과 PPE 전체 초기화는 교육모드 현재 완료 범위에 포함하지 않는다.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07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예외·오류 처리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99616"/>
          <a:ext cx="6748272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828800"/>
                <a:gridCol w="1965960"/>
                <a:gridCol w="1536192"/>
              </a:tblGrid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상황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차단 조건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사용자 피드백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복구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빈 이름 제출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정책 미확정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입력 안내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NameInput 유지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모달 중 이동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Teleport Gate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이동 Ray 비활성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모달 종료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태블릿 미완료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 최종 완료 차단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EDU 016 안내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태블릿 확인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마커 없는 PPE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Grab 금지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대상 마커 유지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올바른 대상 선택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정상 PPE 폐기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판정 불일치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오답 피드백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같은 PPE 재선택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불량 PPE 사용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판정 불일치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오답 피드백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폐기 선택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거울 조건 이탈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5초 미충족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게이지 초기화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조건 재진입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필수 참조 누락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초기화 중단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경로 포함 오류 1회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Editor에서 명시 수리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8202167"/>
            <a:ext cx="6748272" cy="822960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8330183"/>
            <a:ext cx="6419088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D4545"/>
                </a:solidFill>
                <a:latin typeface="Malgun Gothic"/>
              </a:rPr>
              <a:t>금지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8641080"/>
            <a:ext cx="6419088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11827"/>
                </a:solidFill>
                <a:latin typeface="Malgun Gothic"/>
              </a:rPr>
              <a:t>fallback, 자동 선택, 자동 완료, 런타임 오브젝트 생성으로 필수 참조 누락을 숨기지 않는다.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08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상태·데이터 소유권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99616"/>
          <a:ext cx="6748272" cy="681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011680"/>
                <a:gridCol w="1965960"/>
                <a:gridCol w="1444752"/>
              </a:tblGrid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영역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소유자/기준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주요 상태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소비자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교육 흐름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PPEVoiceFlowDirector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FlowState·VOICE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UI·텔레포트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모달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ScenarioDetailModal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교육·모드 선택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Voice Flow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태블릿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PPETabletChecklistController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IsDocumentCompleted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PPE·Finale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PPE 판정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 장비 Controller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Held·Used·Discarded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Action Panel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Action Panel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단일 패널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현재 PPE 소유권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판정 Controller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착용 시각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 Body Anchor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장착 자식 활성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본체·거울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거울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PPEFinaleController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거리·시선·5초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Quiz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퀴즈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PPEQuizController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페이지·정답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완료 전환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81228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UI 표현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Scene/Prefab/Inspector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Transform·색·크기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Runtime Presenter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8567928"/>
            <a:ext cx="6748272" cy="82296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8695944"/>
            <a:ext cx="6419088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99178"/>
                </a:solidFill>
                <a:latin typeface="Malgun Gothic"/>
              </a:rPr>
              <a:t>단일 기준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9006840"/>
            <a:ext cx="6419088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11827"/>
                </a:solidFill>
                <a:latin typeface="Malgun Gothic"/>
              </a:rPr>
              <a:t>한 상태를 두 컴포넌트가 동시에 완료 처리하지 않는다. 상태 소유자는 판정하고 소비자는 표시·입력 게이트만 갱신한다.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09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핵심 기능 요구사항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99616"/>
          <a:ext cx="6839712" cy="72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2743200"/>
                <a:gridCol w="1581912"/>
              </a:tblGrid>
              <a:tr h="55919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ID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기능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인수 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상태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PF-01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앱·로딩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지정 장면 경로 1회 전환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PF-02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이름 입력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한글 입력·제출 이벤트 1회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구현/정책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PF-03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컨트롤러 안내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Ray·Trigger·Grip·Joystick 설명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PF-04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카드·모달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카드 Trigger만 열고 모달 중 이동 차단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PF-05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태블릿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Trigger 1회 시퀀스·중복 차단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PF-06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PPE Grab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마커 직접 Grab·작성 포즈 복원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구현/검증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PF-07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PPE 판정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정상 사용·불량 폐기·오선택 차단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PF-08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풀장착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완료 자식만 활성·본체/거울 공유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구현/검증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PF-09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거울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1.2m·시선·5초·양안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보완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PF-10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퀴즈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5페이지·3보기·오답 재시도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55919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PF-11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VOICE·페이드·카드 복귀 1회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구현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559200">
                <a:tc>
                  <a:txBody>
                    <a:bodyPr wrap="square" anchor="ctr"/>
                    <a:lstStyle/>
                    <a:p>
                      <a:pPr algn="ctr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PF-12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훈련·테스트·관리자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모드 정책·결과 조회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b="0">
                          <a:latin typeface="Malgun Gothic"/>
                        </a:rPr>
                        <a:t>후속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10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QA·인수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65379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Malgun Gothic"/>
              </a:rPr>
              <a:t>정적 확인과 실기기 완료를 분리한다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481328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709928"/>
          <a:ext cx="6748272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057400"/>
                <a:gridCol w="1965960"/>
                <a:gridCol w="1399032"/>
              </a:tblGrid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검증 영역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통과 기준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증거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latin typeface="Malgun Gothic"/>
                        </a:rPr>
                        <a:t>환경</a:t>
                      </a:r>
                    </a:p>
                  </a:txBody>
                  <a:tcPr marL="64008" marR="64008" marT="41148" marB="32004">
                    <a:solidFill>
                      <a:srgbClr val="18324A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컴파일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C# 오류 0건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Unity Console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Editor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장면 경로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중복 없이 PPE 진입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실행 로그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Editor/Quest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XR 입력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각 입력 소비자 1회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이벤트 로그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Quest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PPE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마커 Grab·판정·복원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20회 반복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Editor/Quest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풀장착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장비·좌우 매핑 일치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본체/거울 비교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Quest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거울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양안·Y·바닥·성능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On/Off 비교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Quest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VOICE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누락·중첩 0건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전체 청취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Editor/Quest</a:t>
                      </a:r>
                    </a:p>
                  </a:txBody>
                  <a:tcPr marL="64008" marR="64008" marT="41148" marB="32004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pPr algn="l"/>
                      <a:r>
                        <a:rPr b="1">
                          <a:solidFill>
                            <a:srgbClr val="18324A"/>
                          </a:solidFill>
                          <a:latin typeface="Malgun Gothic"/>
                        </a:rPr>
                        <a:t>완주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앱→완료→복귀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3회 연속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b="0">
                          <a:latin typeface="Malgun Gothic"/>
                        </a:rPr>
                        <a:t>Quest</a:t>
                      </a:r>
                    </a:p>
                  </a:txBody>
                  <a:tcPr marL="64008" marR="64008" marT="41148" marB="3200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11480" y="8046720"/>
            <a:ext cx="6748272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8046720"/>
            <a:ext cx="64008" cy="1600200"/>
          </a:xfrm>
          <a:prstGeom prst="roundRect">
            <a:avLst/>
          </a:prstGeom>
          <a:solidFill>
            <a:srgbClr val="CD4545"/>
          </a:solidFill>
          <a:ln w="10160">
            <a:solidFill>
              <a:srgbClr val="CD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8211312"/>
            <a:ext cx="636422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PPE HandTest 완료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8659368"/>
            <a:ext cx="6345936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10">
                <a:solidFill>
                  <a:srgbClr val="4B5563"/>
                </a:solidFill>
                <a:latin typeface="Malgun Gothic"/>
              </a:defRPr>
            </a:pPr>
            <a:r>
              <a:t>•  반복 참조·Collider·Rigidbody 자동 수리 오류 없음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10">
                <a:solidFill>
                  <a:srgbClr val="4B5563"/>
                </a:solidFill>
                <a:latin typeface="Malgun Gothic"/>
              </a:defRPr>
            </a:pPr>
            <a:r>
              <a:t>•  카드·모달·텔레포트 상태 순서 일치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10">
                <a:solidFill>
                  <a:srgbClr val="4B5563"/>
                </a:solidFill>
                <a:latin typeface="Malgun Gothic"/>
              </a:defRPr>
            </a:pPr>
            <a:r>
              <a:t>•  PPE는 마커 직접 Grab만 허용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10">
                <a:solidFill>
                  <a:srgbClr val="4B5563"/>
                </a:solidFill>
                <a:latin typeface="Malgun Gothic"/>
              </a:defRPr>
            </a:pPr>
            <a:r>
              <a:t>•  거울 본체와 반사의 방향·Y·바닥 접지 일치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11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프로토타입 이후 개발계획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656539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91639"/>
            <a:ext cx="1234440" cy="310896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51075"/>
            <a:ext cx="1088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08.14–08.31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664207"/>
            <a:ext cx="141732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1">
                <a:solidFill>
                  <a:srgbClr val="0F2337"/>
                </a:solidFill>
                <a:latin typeface="Malgun Gothic"/>
              </a:rPr>
              <a:t>PPE 교육 안정화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64207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4B5563"/>
                </a:solidFill>
                <a:latin typeface="Malgun Gothic"/>
              </a:rPr>
              <a:t>VOICE·마커 Grab·태블릿·풀장착·거울·퀴즈·완료 복귀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691639"/>
            <a:ext cx="8229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9178"/>
                </a:solidFill>
                <a:latin typeface="Malgun Gothic"/>
              </a:rPr>
              <a:t>교육모드 P0 0건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44368"/>
            <a:ext cx="656539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108960"/>
            <a:ext cx="1234440" cy="310896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168396"/>
            <a:ext cx="1088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09.01–09.04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081527"/>
            <a:ext cx="141732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1">
                <a:solidFill>
                  <a:srgbClr val="0F2337"/>
                </a:solidFill>
                <a:latin typeface="Malgun Gothic"/>
              </a:rPr>
              <a:t>PPE 훈련·테스트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081527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4B5563"/>
                </a:solidFill>
                <a:latin typeface="Malgun Gothic"/>
              </a:rPr>
              <a:t>최소 안내·무힌트·오류·시간·결과 정책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108960"/>
            <a:ext cx="8229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9178"/>
                </a:solidFill>
                <a:latin typeface="Malgun Gothic"/>
              </a:rPr>
              <a:t>세 모드 분리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61688"/>
            <a:ext cx="656539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526279"/>
            <a:ext cx="1234440" cy="310896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585716"/>
            <a:ext cx="1088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8324A"/>
                </a:solidFill>
                <a:latin typeface="Malgun Gothic"/>
              </a:rPr>
              <a:t>09.07–09.11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498848"/>
            <a:ext cx="141732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1">
                <a:solidFill>
                  <a:srgbClr val="0F2337"/>
                </a:solidFill>
                <a:latin typeface="Malgun Gothic"/>
              </a:rPr>
              <a:t>관리자·QA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498848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4B5563"/>
                </a:solidFill>
                <a:latin typeface="Malgun Gothic"/>
              </a:rPr>
              <a:t>결과·오류·시간 조회와 회귀·성능 테스트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526279"/>
            <a:ext cx="8229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9178"/>
                </a:solidFill>
                <a:latin typeface="Malgun Gothic"/>
              </a:rPr>
              <a:t>주요 결함 해소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779008"/>
            <a:ext cx="656539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943600"/>
            <a:ext cx="1234440" cy="310896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6003036"/>
            <a:ext cx="1088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8324A"/>
                </a:solidFill>
                <a:latin typeface="Malgun Gothic"/>
              </a:rPr>
              <a:t>09.14–09.16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916168"/>
            <a:ext cx="141732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1">
                <a:solidFill>
                  <a:srgbClr val="0F2337"/>
                </a:solidFill>
                <a:latin typeface="Malgun Gothic"/>
              </a:rPr>
              <a:t>리허설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916168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4B5563"/>
                </a:solidFill>
                <a:latin typeface="Malgun Gothic"/>
              </a:rPr>
              <a:t>실기기 동선·대본·백업 영상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943600"/>
            <a:ext cx="8229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9178"/>
                </a:solidFill>
                <a:latin typeface="Malgun Gothic"/>
              </a:rPr>
              <a:t>시연 시간 준수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7196328"/>
            <a:ext cx="656539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" y="7360920"/>
            <a:ext cx="1234440" cy="310896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7420356"/>
            <a:ext cx="108813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8324A"/>
                </a:solidFill>
                <a:latin typeface="Malgun Gothic"/>
              </a:rPr>
              <a:t>09.17–09.18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7333488"/>
            <a:ext cx="141732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1">
                <a:solidFill>
                  <a:srgbClr val="0F2337"/>
                </a:solidFill>
                <a:latin typeface="Malgun Gothic"/>
              </a:rPr>
              <a:t>제출·평가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7333488"/>
            <a:ext cx="2560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4B5563"/>
                </a:solidFill>
                <a:latin typeface="Malgun Gothic"/>
              </a:rPr>
              <a:t>APK·기획서·R&amp;D·QA·발표자료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7360920"/>
            <a:ext cx="8229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99178"/>
                </a:solidFill>
                <a:latin typeface="Malgun Gothic"/>
              </a:rPr>
              <a:t>최종 제출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8796528"/>
            <a:ext cx="6565392" cy="822960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892454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68B1B"/>
                </a:solidFill>
                <a:latin typeface="Malgun Gothic"/>
              </a:rPr>
              <a:t>별도 후속 시나리오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9235440"/>
            <a:ext cx="6236207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11827"/>
                </a:solidFill>
                <a:latin typeface="Malgun Gothic"/>
              </a:rPr>
              <a:t>밀폐공간 진입 전 교육과 사고 체험은 PPE 프로토타입·세 모드·관리자 기능과 분리된 별도 일정으로 산정한다.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18872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8346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46BFE"/>
                </a:solidFill>
                <a:latin typeface="Malgun Gothic"/>
              </a:rPr>
              <a:t>12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6629400" cy="49377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0F2337"/>
                </a:solidFill>
                <a:latin typeface="Malgun Gothic"/>
              </a:rPr>
              <a:t>산출물·알려진 제한·검토 결정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292608"/>
            <a:ext cx="5029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8324A"/>
                </a:solidFill>
                <a:latin typeface="Malgun Gothic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204704"/>
            <a:ext cx="6675120" cy="10972"/>
          </a:xfrm>
          <a:prstGeom prst="rect">
            <a:avLst/>
          </a:prstGeom>
          <a:solidFill>
            <a:srgbClr val="D6DEE7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268712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Malgun Gothic"/>
              </a:rPr>
              <a:t>화학물질 안전훈련 VR · PPE 착용 교육 프로토타입 기획서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0268712"/>
            <a:ext cx="658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8324A"/>
                </a:solidFill>
                <a:latin typeface="Malgun Gothic"/>
              </a:rPr>
              <a:t>v0.7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27048"/>
            <a:ext cx="315468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27048"/>
            <a:ext cx="64008" cy="3291840"/>
          </a:xfrm>
          <a:prstGeom prst="roundRect">
            <a:avLst/>
          </a:prstGeom>
          <a:solidFill>
            <a:srgbClr val="246BFE"/>
          </a:solidFill>
          <a:ln w="10160">
            <a:solidFill>
              <a:srgbClr val="246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91639"/>
            <a:ext cx="2770632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산출물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39696"/>
            <a:ext cx="2752344" cy="2532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Unity 프로젝트와 Quest APK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PPE 교육·입력·VOICE·R&amp;D 기획 문서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QA 결과와 Quest 실기기 검증 기록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TTS 원본·최종 AudioClip과 파일 이벤트 맵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시연 대본·백업 영상·에셋 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527048"/>
            <a:ext cx="3182112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1527048"/>
            <a:ext cx="64008" cy="3291840"/>
          </a:xfrm>
          <a:prstGeom prst="roundRect">
            <a:avLst/>
          </a:prstGeom>
          <a:solidFill>
            <a:srgbClr val="D68B1B"/>
          </a:solidFill>
          <a:ln w="10160">
            <a:solidFill>
              <a:srgbClr val="D68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1691639"/>
            <a:ext cx="27980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현재 알려진 제한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139696"/>
            <a:ext cx="2779776" cy="2532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거울 5초 동안 거리·시선 연속 재검사 필요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빈 이름 허용·길이 정책 미확정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교육 점수 결과·전체 Reset 미구현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훈련·테스트는 선택 이후 진행 로직 후속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070">
                <a:solidFill>
                  <a:srgbClr val="4B5563"/>
                </a:solidFill>
                <a:latin typeface="Malgun Gothic"/>
              </a:defRPr>
            </a:pPr>
            <a:r>
              <a:t>•  Quest 양안·오디오·입력 최종 검증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230368"/>
            <a:ext cx="19202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2337"/>
                </a:solidFill>
                <a:latin typeface="Malgun Gothic"/>
              </a:rPr>
              <a:t>검토 시 결정할 항목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733288"/>
            <a:ext cx="31089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724144"/>
            <a:ext cx="56235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111827"/>
                </a:solidFill>
                <a:latin typeface="Malgun Gothic"/>
              </a:rPr>
              <a:t>빈 이름·최대 길이·금칙문자 정책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6391656"/>
            <a:ext cx="31089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382512"/>
            <a:ext cx="56235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111827"/>
                </a:solidFill>
                <a:latin typeface="Malgun Gothic"/>
              </a:rPr>
              <a:t>거울 조건 이탈 시 게이지 즉시 초기화 여부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7050024"/>
            <a:ext cx="31089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7040880"/>
            <a:ext cx="56235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111827"/>
                </a:solidFill>
                <a:latin typeface="Malgun Gothic"/>
              </a:rPr>
              <a:t>교육모드 완료 후 Reset 범위와 돌아가기 화면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7708392"/>
            <a:ext cx="31089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7699248"/>
            <a:ext cx="56235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111827"/>
                </a:solidFill>
                <a:latin typeface="Malgun Gothic"/>
              </a:rPr>
              <a:t>훈련·테스트 결과 데이터와 관리자 조회 항목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8366760"/>
            <a:ext cx="310896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8357616"/>
            <a:ext cx="56235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111827"/>
                </a:solidFill>
                <a:latin typeface="Malgun Gothic"/>
              </a:rPr>
              <a:t>Quest 목표 성능과 거울 RenderTexture 대안 기준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9116567"/>
            <a:ext cx="6565392" cy="82296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9244584"/>
            <a:ext cx="6236207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99178"/>
                </a:solidFill>
                <a:latin typeface="Malgun Gothic"/>
              </a:rPr>
              <a:t>완료 보고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9555480"/>
            <a:ext cx="6236207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111827"/>
                </a:solidFill>
                <a:latin typeface="Malgun Gothic"/>
              </a:rPr>
              <a:t>정적 확인, Unity Editor 확인, Quest/OpenXR 확인을 분리해 기록하고 실제로 수행하지 않은 상위 검증을 완료로 표시하지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· PPE 착용 교육 프로토타입 기획서</dc:title>
  <dc:subject>현재 Unity 프로젝트 구현 기준 실무형 프로토타입 기획서</dc:subject>
  <dc:creator>최진영</dc:creator>
  <cp:keywords/>
  <dc:description>원본 PPTX와 분리해 작성한 세로형 실무 기획서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