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89700"/>
  </p:normalViewPr>
  <p:slideViewPr>
    <p:cSldViewPr snapToGrid="0" snapToObjects="1">
      <p:cViewPr>
        <p:scale>
          <a:sx n="70" d="100"/>
          <a:sy n="7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presProps" Target="presProps.xml"  /><Relationship Id="rId16" Type="http://schemas.openxmlformats.org/officeDocument/2006/relationships/viewProps" Target="viewProps.xml"  /><Relationship Id="rId17" Type="http://schemas.openxmlformats.org/officeDocument/2006/relationships/theme" Target="theme/theme1.xml"  /><Relationship Id="rId18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 idx="0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 noTextEdi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 ?><Relationships xmlns="http://schemas.openxmlformats.org/package/2006/relationships"><Relationship Id="R1dd4c22c15754aff" Type="http://schemas.openxmlformats.org/officeDocument/2006/relationships/slide" Target="../slides/slide1.xml"  /><Relationship Id="Rb89fe0a864214e67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30df0ff0e7bb408f" Type="http://schemas.openxmlformats.org/officeDocument/2006/relationships/notesMaster" Target="../notesMasters/notesMaster1.xml"  /><Relationship Id="R42396d364fd44825" Type="http://schemas.openxmlformats.org/officeDocument/2006/relationships/slide" Target="../slides/slide3.xml"  /></Relationships>
</file>

<file path=ppt/notesSlides/_rels/notesSlide3.xml.rels><?xml version="1.0" encoding="UTF-8" standalone="yes" ?><Relationships xmlns="http://schemas.openxmlformats.org/package/2006/relationships"><Relationship Id="R0d851fe1195b4007" Type="http://schemas.openxmlformats.org/officeDocument/2006/relationships/notesMaster" Target="../notesMasters/notesMaster1.xml"  /><Relationship Id="R81c9728055394bc4" Type="http://schemas.openxmlformats.org/officeDocument/2006/relationships/slide" Target="../slides/slide4.xml"  /></Relationships>
</file>

<file path=ppt/notesSlides/_rels/notesSlide4.xml.rels><?xml version="1.0" encoding="UTF-8" standalone="yes" ?><Relationships xmlns="http://schemas.openxmlformats.org/package/2006/relationships"><Relationship Id="Rada20a9e2a0a4c3a" Type="http://schemas.openxmlformats.org/officeDocument/2006/relationships/slide" Target="../slides/slide5.xml"  /><Relationship Id="Rbe96f49a2c2c48ac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50eeaa2dbcc24446" Type="http://schemas.openxmlformats.org/officeDocument/2006/relationships/slide" Target="../slides/slide6.xml"  /><Relationship Id="R53611116355643b8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50181246ef524ba8" Type="http://schemas.openxmlformats.org/officeDocument/2006/relationships/notesMaster" Target="../notesMasters/notesMaster1.xml"  /><Relationship Id="R92bc8866d48a4eea" Type="http://schemas.openxmlformats.org/officeDocument/2006/relationships/slide" Target="../slides/slide7.xml"  /></Relationships>
</file>

<file path=ppt/notesSlides/_rels/notesSlide7.xml.rels><?xml version="1.0" encoding="UTF-8" standalone="yes" ?><Relationships xmlns="http://schemas.openxmlformats.org/package/2006/relationships"><Relationship Id="R0ab13095573043fa" Type="http://schemas.openxmlformats.org/officeDocument/2006/relationships/notesMaster" Target="../notesMasters/notesMaster1.xml"  /><Relationship Id="R7efcb7d69f2d4bb3" Type="http://schemas.openxmlformats.org/officeDocument/2006/relationships/slide" Target="../slides/slide8.xml"  /></Relationships>
</file>

<file path=ppt/notesSlides/_rels/notesSlide8.xml.rels><?xml version="1.0" encoding="UTF-8" standalone="yes" ?><Relationships xmlns="http://schemas.openxmlformats.org/package/2006/relationships"><Relationship Id="R1c33ae9350f145fd" Type="http://schemas.openxmlformats.org/officeDocument/2006/relationships/slide" Target="../slides/slide9.xml"  /><Relationship Id="R7474b2188c474e11" Type="http://schemas.openxmlformats.org/officeDocument/2006/relationships/notesMaster" Target="../notesMasters/notesMaster1.xml" 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 ?><Relationships xmlns="http://schemas.openxmlformats.org/package/2006/relationships"><Relationship Id="Rb8f5bea169324dc7" Type="http://schemas.openxmlformats.org/officeDocument/2006/relationships/slideMaster" Target="../slideMasters/slideMaster1.xml" 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 standalone="yes" ?><Relationships xmlns="http://schemas.openxmlformats.org/package/2006/relationships"><Relationship Id="R4444c0da91104dc7" Type="http://schemas.openxmlformats.org/officeDocument/2006/relationships/slideLayout" Target="../slideLayouts/slideLayout1.xml"  /><Relationship Id="R85798c18386b4c78" Type="http://schemas.openxmlformats.org/officeDocument/2006/relationships/theme" Target="../theme/theme1.xml" 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44c0da91104d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4dfc17e8b40440c1" Type="http://schemas.openxmlformats.org/officeDocument/2006/relationships/slideLayout" Target="../slideLayouts/slideLayout1.xml"  /><Relationship Id="R561173eea7494c89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/Relationships>
</file>

<file path=ppt/slides/_rels/slide10.xml.rels><?xml version="1.0" encoding="UTF-8" standalone="yes" ?><Relationships xmlns="http://schemas.openxmlformats.org/package/2006/relationships"><Relationship Id="R8a6d3fd2bcc34b95" Type="http://schemas.openxmlformats.org/officeDocument/2006/relationships/slideLayout" Target="../slideLayouts/slideLayout1.xml"  /><Relationship Id="R996b1a314db74de6" Type="http://schemas.openxmlformats.org/officeDocument/2006/relationships/notesSlide" Target="../notesSlides/notesSlide10.xml"  /></Relationships>
</file>

<file path=ppt/slides/_rels/slide11.xml.rels><?xml version="1.0" encoding="UTF-8" standalone="yes" ?><Relationships xmlns="http://schemas.openxmlformats.org/package/2006/relationships"><Relationship Id="R5d75273ab7434c44" Type="http://schemas.openxmlformats.org/officeDocument/2006/relationships/slideLayout" Target="../slideLayouts/slideLayout1.xml"  /><Relationship Id="Rfe8ab285963b4beb" Type="http://schemas.openxmlformats.org/officeDocument/2006/relationships/notesSlide" Target="../notesSlides/notesSlide11.xml"  /></Relationships>
</file>

<file path=ppt/slides/_rels/slide12.xml.rels><?xml version="1.0" encoding="UTF-8" standalone="yes" ?><Relationships xmlns="http://schemas.openxmlformats.org/package/2006/relationships"><Relationship Id="R9290ff3500f14c70" Type="http://schemas.openxmlformats.org/officeDocument/2006/relationships/slideLayout" Target="../slideLayouts/slideLayout1.xml"  /><Relationship Id="Rbf4a3073d70444e2" Type="http://schemas.openxmlformats.org/officeDocument/2006/relationships/notesSlide" Target="../notesSlides/notesSlide1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48949-69EA-4242-A9C8-CE6E2EE9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최종 평가표 문항별 대조 자료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283D8-88CD-4116-BD8E-5CEA3894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D9E7F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9E7F4"/>
                </a:solidFill>
                <a:latin typeface="Arial"/>
                <a:ea typeface="Arial"/>
                <a:cs typeface="Arial"/>
              </a:rPr>
              <a:t>화학물질 안전교육 VR · 클라이언트 + 서버 산출물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82181-AFAA-4576-893D-B0722D2E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9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9DA"/>
                </a:solidFill>
                <a:latin typeface="Arial"/>
                <a:ea typeface="Arial"/>
                <a:cs typeface="Arial"/>
              </a:rPr>
              <a:t>기준일 2026-09-15  |  클라이언트 main@1e8e8a5  |  서버 main@847b349</a:t>
            </a:r>
          </a:p>
        </p:txBody>
      </p:sp>
    </p:spTree>
    <p:extLst>
      <p:ext uri="{BB962C8B-B14F-4D97-AF65-F5344CB8AC3E}">
        <p14:creationId xmlns:p14="http://schemas.microsoft.com/office/powerpoint/2010/main" val="102897209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5D47C-C866-4FCF-B570-C2C9CBCE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EBC"/>
          </a:solidFill>
          <a:ln xmlns:a="http://schemas.openxmlformats.org/drawingml/2006/main" w="0">
            <a:solidFill>
              <a:srgbClr val="1C6EB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43F28-3DE7-469A-8908-0BA787D9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평가표와 판정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ADFAB-E938-4F0F-BBB2-82FC75FC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평가표 70점 포트폴리오 + 30점 발표·질의응답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20DFE-7B15-43E6-9C57-0AB9CD39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충족: 요구사항과 제출 증빙을 모두 확인</a:t>
            </a:r>
          </a:p>
          <a:p xmlns:a="http://schemas.openxmlformats.org/drawingml/2006/main">
            <a:pPr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부분 충족: 구현·문서 근거는 있으나 제출용 정리 또는 검증이 부족</a:t>
            </a:r>
          </a:p>
          <a:p xmlns:a="http://schemas.openxmlformats.org/drawingml/2006/main">
            <a:pPr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미검증: 실제 발표·시연·외부 테스트처럼 현장 확인이 필요한 항목</a:t>
            </a:r>
          </a:p>
          <a:p xmlns:a="http://schemas.openxmlformats.org/drawingml/2006/main">
            <a:pPr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보완 필요: 평가표가 요구하는 증빙이 현재 자료에서 확인되지 않음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4049C-A07C-4E6E-81D9-BD9EC55F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판정 기준</a:t>
            </a:r>
          </a:p>
        </p:txBody>
      </p:sp>
    </p:spTree>
    <p:extLst>
      <p:ext uri="{BB962C8B-B14F-4D97-AF65-F5344CB8AC3E}">
        <p14:creationId xmlns:p14="http://schemas.microsoft.com/office/powerpoint/2010/main" val="1090574530"/>
      </p:ext>
    </p:extLst>
  </p:cSld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1962F-16CF-4C08-A221-62D37EA3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EBC"/>
          </a:solidFill>
          <a:ln xmlns:a="http://schemas.openxmlformats.org/drawingml/2006/main" w="0">
            <a:solidFill>
              <a:srgbClr val="1C6EBC"/>
            </a:solidFill>
          </a:ln>
        </p:spPr>
      </p:sp>
      <p:sp>
        <p:nvSpPr>
          <p:cNvPr id="2" name=""/>
          <p:cNvSpPr>
            <a:spLocks noGrp="1"/>
          </p:cNvSpPr>
          <p:nvPr/>
        </p:nvSpPr>
        <p:spPr>
          <a:xfrm>
            <a:off x="609600" y="120015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buNone/>
              <a:defRPr sz="25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문1. 프로젝트 기획 및 요구사항 정의</a:t>
            </a:r>
            <a:endParaRPr sz="2550" b="1">
              <a:solidFill>
                <a:srgbClr val="10233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628650" y="1809750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buNone/>
              <a:defRPr sz="13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1-1 주제·목표·대상 / 1-2 역할·일정</a:t>
            </a:r>
            <a:endParaRPr sz="1350" b="0">
              <a:solidFill>
                <a:srgbClr val="52617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85800" y="2295525"/>
            <a:ext cx="10820400" cy="447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확인된 근거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화학물질 안전교육 VR, Meta Quest/OpenXR, PPE 교육·훈련·테스트 흐름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1인 팀 Tyche의 기획·개발·제작 범위와 주차별 일정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대조 결과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주제·범위·일정은 상세기획서에 있음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평가표 제출용 필수/선택 기능 목록과 역할·포함/제외 범위 표는 별도 정리가 필요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상태: 부분 충족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8A8BA-1652-4ED6-B0FE-CDBE58A7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문1 · 부분 충족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85799" y="449580"/>
            <a:ext cx="15889605" cy="6438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1주차 (08.13 ~ 08.19) · 기획 — 주제 확정, 요구사항 정의, 역할 분담, 저장소 개설주제·목표·기능 목록을 </a:t>
            </a:r>
            <a:br>
              <a:rPr xmlns:mc="http://schemas.openxmlformats.org/markup-compatibility/2006" xmlns:hp="http://schemas.haansoft.com/office/presentation/8.0" lang="ko-KR" altLang="en-US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</a:b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확정하고 팀 저장소와 협업 도구를 준비한다 → 문1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138630632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1BE51-FED5-4513-A779-B0F48102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EBC"/>
          </a:solidFill>
          <a:ln xmlns:a="http://schemas.openxmlformats.org/drawingml/2006/main" w="0">
            <a:solidFill>
              <a:srgbClr val="1C6EBC"/>
            </a:solidFill>
          </a:ln>
        </p:spPr>
      </p:sp>
      <p:sp>
        <p:nvSpPr>
          <p:cNvPr id="2" name=""/>
          <p:cNvSpPr>
            <a:spLocks noGrp="1"/>
          </p:cNvSpPr>
          <p:nvPr/>
        </p:nvSpPr>
        <p:spPr>
          <a:xfrm>
            <a:off x="609600" y="11525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buNone/>
              <a:defRPr sz="25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문2. 설계 산출물 및 개발 환경</a:t>
            </a:r>
            <a:endParaRPr sz="2550" b="1">
              <a:solidFill>
                <a:srgbClr val="10233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628650" y="176212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buNone/>
              <a:defRPr sz="13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2-1 화면·구조·데이터 / 2-2 환경·형상관리</a:t>
            </a:r>
            <a:endParaRPr sz="1350" b="0">
              <a:solidFill>
                <a:srgbClr val="52617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85800" y="2209800"/>
            <a:ext cx="10820400" cy="447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확인된 근거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시스템 구조 문서와 클라이언트–서버–DB 이벤트 흐름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Unity 6000.4.8f1, URP, OpenXR, XRI, Git 저장소 및 커밋 규칙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대조 결과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설계 산출물과 저장소는 확인됨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과거 계획과 현재 구현을 제출본에서 명시적으로 분리해야 함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상태: 부분 충족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D0CF4-FCE4-4E66-B419-F7D16AF9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문2 · 부분 충족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85800" y="406717"/>
            <a:ext cx="10839450" cy="6391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2주차 (08.20 ~ 08.26) · 설계 — 화면·구조·데이터 설계 및 개발 환경 구성설계 산출물을 먼저 만든 뒤 구현에 들어간다 → 문2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2059149927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1c6ebc"/>
          </a:solidFill>
          <a:ln w="0">
            <a:solidFill>
              <a:srgbClr val="1c6ebc"/>
            </a:solidFill>
          </a:ln>
        </p:spPr>
      </p:sp>
      <p:sp>
        <p:nvSpPr>
          <p:cNvPr id="2" name=""/>
          <p:cNvSpPr>
            <a:spLocks noGrp="1"/>
          </p:cNvSpPr>
          <p:nvPr/>
        </p:nvSpPr>
        <p:spPr>
          <a:xfrm>
            <a:off x="609600" y="113347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buNone/>
              <a:defRPr sz="25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문3. 핵심 기능 구현</a:t>
            </a:r>
            <a:endParaRPr sz="2550" b="1">
              <a:solidFill>
                <a:srgbClr val="10233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628650" y="174307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buNone/>
              <a:defRPr sz="13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3-1 필수 기능 / 3-2 요구사항 대비 구현 현황</a:t>
            </a:r>
            <a:endParaRPr sz="1350" b="0">
              <a:solidFill>
                <a:srgbClr val="52617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85800" y="2333625"/>
            <a:ext cx="10820400" cy="447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확인된 실행 근거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Build 8: Quest 실행 → 운영 HTTPS 전송 → MySQL 저장 기록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PPE 교육·훈련·테스트 흐름 및 JSONL/세션 이벤트 문서화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대조 결과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핵심 기능의 실제 기록은 있음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최신 평가자용 APK, 대시보드 실제 조회, 요구사항별 구현·부분·미구현 표가 필요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상태: 3-1 부분 충족 / 3-2 보완 필요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B1B23-A9CF-4200-AEF5-CEDAA401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문3 · 핵심 증빙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09600" y="468630"/>
            <a:ext cx="10953750" cy="6438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3~4주차 (08.27 ~ 09.09) · 구현 — 핵심 기능 완성 및 통합4주차 말까지 처음부터 끝까지 동작하는 상태를 만들 것 · 이후 신규 기능 추가 자제 → 문3·문4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637171629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04FD8-2526-4DD6-9CE2-9004DB29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EBC"/>
          </a:solidFill>
          <a:ln xmlns:a="http://schemas.openxmlformats.org/drawingml/2006/main" w="0">
            <a:solidFill>
              <a:srgbClr val="1C6EBC"/>
            </a:solidFill>
          </a:ln>
        </p:spPr>
      </p:sp>
      <p:sp>
        <p:nvSpPr>
          <p:cNvPr id="2" name=""/>
          <p:cNvSpPr>
            <a:spLocks noGrp="1"/>
          </p:cNvSpPr>
          <p:nvPr/>
        </p:nvSpPr>
        <p:spPr>
          <a:xfrm>
            <a:off x="609600" y="123825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buNone/>
              <a:defRPr sz="25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문4. 완성도·예외 처리 및 사용성</a:t>
            </a:r>
            <a:endParaRPr sz="2550" b="1">
              <a:solidFill>
                <a:srgbClr val="10233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628650" y="1847850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buNone/>
              <a:defRPr sz="13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4-1 전체 흐름 / 4-2 예외·안내</a:t>
            </a:r>
            <a:endParaRPr sz="1350" b="0">
              <a:solidFill>
                <a:srgbClr val="52617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85800" y="2438400"/>
            <a:ext cx="10820400" cy="447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확인된 근거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Build 8의 PPE 모드 완주 및 종료 기록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QA·버그 문서와 입력 오류·재시도·종료 관련 처리 기록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대조 결과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전체 흐름은 기록으로 확인되지만 최신 제출물 재실행은 미검증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상황/처리/사용자 표시/결과 캡처 형식의 예외 목록표가 필요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상태: 부분 충족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A8F17-8871-47BA-83F9-1156ED01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문4 · 부분 충족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28650" y="387667"/>
            <a:ext cx="11298555" cy="6391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3~4주차 (08.27 ~ 09.09) · 구현 — 핵심 기능 완성 및 통합4주차 말까지 처음부터 끝까지 동작하는 상태를 만들 것 · 이후 신규 기능 추가 자제 → 문3·문4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899661525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A8A66-0C18-4353-B45A-4BB68DEE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EBC"/>
          </a:solidFill>
          <a:ln xmlns:a="http://schemas.openxmlformats.org/drawingml/2006/main" w="0">
            <a:solidFill>
              <a:srgbClr val="1C6EBC"/>
            </a:solidFill>
          </a:ln>
        </p:spPr>
      </p:sp>
      <p:sp>
        <p:nvSpPr>
          <p:cNvPr id="2" name=""/>
          <p:cNvSpPr>
            <a:spLocks noGrp="1"/>
          </p:cNvSpPr>
          <p:nvPr/>
        </p:nvSpPr>
        <p:spPr>
          <a:xfrm>
            <a:off x="609600" y="12192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buNone/>
              <a:defRPr sz="25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문5. 테스트 기록 및 개인 기여</a:t>
            </a:r>
            <a:endParaRPr sz="2550" b="1">
              <a:solidFill>
                <a:srgbClr val="10233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628650" y="1828800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buNone/>
              <a:defRPr sz="13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5-1 팀 외 테스터 2인 / 5-2 기여 증빙</a:t>
            </a:r>
            <a:endParaRPr sz="1350" b="0">
              <a:solidFill>
                <a:srgbClr val="52617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85800" y="2419350"/>
            <a:ext cx="10820400" cy="447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가장 큰 보완 항목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확인한 QA 체크시트의 테스터·실행 시각 입력란이 비어 있음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팀 외 사용자 2인 이상의 문제·심각도·조치 기록을 확인하지 못함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개인 기여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개인 발표 문서에 기획·개발·문제 해결 서술이 있음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커밋 목록 + 담당 파일/화면 목록을 함께 제출해야 함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상태: 5-1 보완 필요 / 5-2 부분 충족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5A046-008C-44C5-8886-2A5A447F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문5 · 우선 보완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28650" y="438150"/>
            <a:ext cx="11089005" cy="6391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5주차 (09.10 ~ 09.16) · 테스트 · 정리 · 발표 준비외부 테스트, 오류 수정, 산출물 정리, 발표 리허설, 등록 질문 대비 → 문5·문6·문7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597441127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39A0E-AA55-47D0-B989-69C8EB47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EBC"/>
          </a:solidFill>
          <a:ln xmlns:a="http://schemas.openxmlformats.org/drawingml/2006/main" w="0">
            <a:solidFill>
              <a:srgbClr val="1C6EBC"/>
            </a:solidFill>
          </a:ln>
        </p:spPr>
      </p:sp>
      <p:sp>
        <p:nvSpPr>
          <p:cNvPr id="2" name=""/>
          <p:cNvSpPr>
            <a:spLocks noGrp="1"/>
          </p:cNvSpPr>
          <p:nvPr/>
        </p:nvSpPr>
        <p:spPr>
          <a:xfrm>
            <a:off x="609600" y="142875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buNone/>
              <a:defRPr sz="25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문6. 발표 구성 및 시연</a:t>
            </a:r>
            <a:endParaRPr sz="2550" b="1">
              <a:solidFill>
                <a:srgbClr val="10233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628650" y="2038350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buNone/>
              <a:defRPr sz="13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6-1 발표 전달 / 6-2 실제 시연</a:t>
            </a:r>
            <a:endParaRPr sz="1350" b="0">
              <a:solidFill>
                <a:srgbClr val="52617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85800" y="2628900"/>
            <a:ext cx="10820400" cy="447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확인된 자료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최종 PPTX와 실플레이 영상 파일이 다운로드 폴더에 존재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아직 판정할 수 없는 내용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10~15분 제한시간 내 발표 수행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발표 당일 최신 실행물로 핵심 기능·기술·구조 시연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영상이 3~7분이고 필수 기능을 모두 포함하는지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상태: 미검증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5D515-2368-41AE-A8CD-EB970C05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문6 · 발표 당일 확인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28650" y="438150"/>
            <a:ext cx="11089005" cy="6391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5주차 (09.10 ~ 09.16) · 테스트 · 정리 · 발표 준비외부 테스트, 오류 수정, 산출물 정리, 발표 리허설, 등록 질문 대비 → 문5·문6·문7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1262320057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345C1-E503-4F92-9F1A-87DF90A9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EBC"/>
          </a:solidFill>
          <a:ln xmlns:a="http://schemas.openxmlformats.org/drawingml/2006/main" w="0">
            <a:solidFill>
              <a:srgbClr val="1C6EBC"/>
            </a:solidFill>
          </a:ln>
        </p:spPr>
      </p:sp>
      <p:sp>
        <p:nvSpPr>
          <p:cNvPr id="2" name=""/>
          <p:cNvSpPr>
            <a:spLocks noGrp="1"/>
          </p:cNvSpPr>
          <p:nvPr/>
        </p:nvSpPr>
        <p:spPr>
          <a:xfrm>
            <a:off x="609600" y="11430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buNone/>
              <a:defRPr sz="25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문7. 질문 답변 및 한계 인식</a:t>
            </a:r>
            <a:endParaRPr sz="2550" b="1">
              <a:solidFill>
                <a:srgbClr val="10233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628650" y="1752600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buNone/>
              <a:defRPr sz="13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7-1 답변 정확성 / 7-2 기술 근거·한계</a:t>
            </a:r>
            <a:endParaRPr sz="1350" b="0">
              <a:solidFill>
                <a:srgbClr val="52617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"/>
          <p:cNvSpPr>
            <a:spLocks noGrp="1"/>
          </p:cNvSpPr>
          <p:nvPr/>
        </p:nvSpPr>
        <p:spPr>
          <a:xfrm>
            <a:off x="685800" y="2343150"/>
            <a:ext cx="10820400" cy="447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확인된 준비 자료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Q&amp;A 준비와 개인 기여·기술 선택·미검증 범위를 설명한 문서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평가 당일 확인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답변이 제출 포트폴리오 근거와 일치하는가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서버 저장·대시보드 조회·최신 Release APK의 한계를 정확히 설명하는가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  <a:p>
            <a:pPr lvl="0"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상태: 미검증</a:t>
            </a:r>
            <a:endParaRPr sz="1650" b="0">
              <a:solidFill>
                <a:srgbClr val="10233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98006-54D7-4E01-B082-8F55D993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문7 · 질의응답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28650" y="438150"/>
            <a:ext cx="11089005" cy="6391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5주차 (09.10 ~ 09.16) · 테스트 · 정리 · 발표 준비외부 테스트, 오류 수정, 산출물 정리, 발표 리허설, 등록 질문 대비 → 문5·문6·문7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1388483188"/>
      </p:ext>
    </p:extLst>
  </p:cSld>
  <p:clrMapOvr>
    <a:masterClrMapping/>
  </p:clrMapOvr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3833B-B5AA-4EDF-AAFF-A59D0A61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EBC"/>
          </a:solidFill>
          <a:ln xmlns:a="http://schemas.openxmlformats.org/drawingml/2006/main" w="0">
            <a:solidFill>
              <a:srgbClr val="1C6EB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8D1AE-B46F-4815-B18A-41433C98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공통 제출 기준 대조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0AFF4-B692-46C2-B61B-75D9777E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평가표의 실행물·소스·문서·시연·폴더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4398A-551A-44A1-92BD-42FFCD05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① 실행물 + README 1장: 최신 평가자용 APK와 설치·실행 안내 필요</a:t>
            </a:r>
          </a:p>
          <a:p xmlns:a="http://schemas.openxmlformats.org/drawingml/2006/main">
            <a:pPr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② 소스·형상관리: 클라이언트/서버 저장소와 커밋 이력 확인</a:t>
            </a:r>
          </a:p>
          <a:p xmlns:a="http://schemas.openxmlformats.org/drawingml/2006/main">
            <a:pPr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③ 문서 산출물: 관련 문서는 있으나 평가표별 묶음 필요</a:t>
            </a:r>
          </a:p>
          <a:p xmlns:a="http://schemas.openxmlformats.org/drawingml/2006/main">
            <a:pPr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④ 시연 자료: 영상은 있으나 최종 길이·내용 검증 필요</a:t>
            </a:r>
          </a:p>
          <a:p xmlns:a="http://schemas.openxmlformats.org/drawingml/2006/main">
            <a:pPr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⑤ 단일 폴더: 00_문서 / 10_실행물 / 20_영상 / 30_테스트 / 40_개인기여 / 50_발표자료 구성 필요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A7C5E-9AA2-4915-8ECA-164A54F6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공통 기준 · 보완 필요</a:t>
            </a:r>
          </a:p>
        </p:txBody>
      </p:sp>
    </p:spTree>
    <p:extLst>
      <p:ext uri="{BB962C8B-B14F-4D97-AF65-F5344CB8AC3E}">
        <p14:creationId xmlns:p14="http://schemas.microsoft.com/office/powerpoint/2010/main" val="17194803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66027-7212-4A1B-B62E-9957487D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EBC"/>
          </a:solidFill>
          <a:ln xmlns:a="http://schemas.openxmlformats.org/drawingml/2006/main" w="0">
            <a:solidFill>
              <a:srgbClr val="1C6EB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27141-9BF9-43E2-85EC-6B0C1CD2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제출 전 우선순위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885C2-8770-4D63-942A-1A9E721D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평가표와 실제 증빙을 일치시키는 순서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794CD-F093-4344-A588-7811C35E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1. 외부 테스터 2인 이상 기록 작성 및 재검증</a:t>
            </a:r>
          </a:p>
          <a:p xmlns:a="http://schemas.openxmlformats.org/drawingml/2006/main">
            <a:pPr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2. 요구사항–구현–근거 대조표 완성</a:t>
            </a:r>
          </a:p>
          <a:p xmlns:a="http://schemas.openxmlformats.org/drawingml/2006/main">
            <a:pPr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3. 최신 APK와 평가자용 1장 실행 안내 확정</a:t>
            </a:r>
          </a:p>
          <a:p xmlns:a="http://schemas.openxmlformats.org/drawingml/2006/main">
            <a:pPr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4. 예외 처리 표와 오류 화면 캡처 정리</a:t>
            </a:r>
          </a:p>
          <a:p xmlns:a="http://schemas.openxmlformats.org/drawingml/2006/main">
            <a:pPr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5. 6개 지정 폴더로 단일 제출본 구성</a:t>
            </a:r>
          </a:p>
          <a:p xmlns:a="http://schemas.openxmlformats.org/drawingml/2006/main">
            <a:pPr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6. PPT·영상·시연 순서를 문항 번호와 맞춰 리허설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74D97-F443-4703-92CB-6C5AAF50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제출 체크리스트</a:t>
            </a:r>
          </a:p>
        </p:txBody>
      </p:sp>
    </p:spTree>
    <p:extLst>
      <p:ext uri="{BB962C8B-B14F-4D97-AF65-F5344CB8AC3E}">
        <p14:creationId xmlns:p14="http://schemas.microsoft.com/office/powerpoint/2010/main" val="790764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6577B-ECA7-4D4D-8EF3-0337D4FD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6EBC"/>
          </a:solidFill>
          <a:ln xmlns:a="http://schemas.openxmlformats.org/drawingml/2006/main" w="0">
            <a:solidFill>
              <a:srgbClr val="1C6EB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73589-2B6A-4A2E-8FB3-48C0A74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증빙 파일과 검증 한계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B2F15-26F0-4FBF-A753-35913559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이 자료의 사실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9D209-9DDE-43B7-B9BF-39892AAA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클라이언트: `Docs/화학물질_안전훈련_VR_상세기획서_V0.10_Alpha.html`, `Docs/ChemicalSafetyVRSystemArchitecture.md`</a:t>
            </a:r>
          </a:p>
          <a:p xmlns:a="http://schemas.openxmlformats.org/drawingml/2006/main">
            <a:pPr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서버·통합: `Docs/MeetingNotes/2026-08-30_Client_Server_Auth_Channel_Handoff.md`</a:t>
            </a:r>
          </a:p>
          <a:p xmlns:a="http://schemas.openxmlformats.org/drawingml/2006/main">
            <a:pPr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개인 기여: `Docs/MeetingNotes/2026-09-06_기업연계_VR프로젝트_개인발표_포지셔닝.md`</a:t>
            </a:r>
          </a:p>
          <a:p xmlns:a="http://schemas.openxmlformats.org/drawingml/2006/main">
            <a:pPr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테스트: `Docs/PPE_HandTest_User_QA_Checksheet.md`, `Docs/PPE_HandTest_EndToEnd_QA.md`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이 문서는 정적 자료 대조본이며, 발표 수행·외부 테스터 실적·최신 APK 단독 실행·실제 대시보드 조회를 대신하지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4CA63-FC91-47C5-B675-6D4EA06E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근거 및 한계</a:t>
            </a:r>
          </a:p>
        </p:txBody>
      </p:sp>
    </p:spTree>
    <p:extLst>
      <p:ext uri="{BB962C8B-B14F-4D97-AF65-F5344CB8AC3E}">
        <p14:creationId xmlns:p14="http://schemas.microsoft.com/office/powerpoint/2010/main" val="501267710"/>
      </p:ext>
    </p:extLst>
  </p:cSld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738</ep:Words>
  <ep:PresentationFormat>Converted Presentation</ep:PresentationFormat>
  <ep:Paragraphs>126</ep:Paragraphs>
  <ep:Slides>12</ep:Slides>
  <ep:Notes>12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ep:HeadingPairs>
  <ep:TitlesOfParts>
    <vt:vector size="13" baseType="lpstr">
      <vt:lpstr>ChatGPT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dcterms:modified xsi:type="dcterms:W3CDTF">2026-09-15T08:10:52.020</dcterms:modified>
  <cp:revision>4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