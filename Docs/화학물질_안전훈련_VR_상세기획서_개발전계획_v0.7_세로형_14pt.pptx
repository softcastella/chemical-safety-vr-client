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7562850" cy="10688638"/>
  <p:notesSz cx="10688638" cy="75628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11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8762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0012680"/>
            <a:ext cx="6556248" cy="0"/>
          </a:xfrm>
          <a:prstGeom prst="line">
            <a:avLst/>
          </a:prstGeom>
          <a:noFill/>
          <a:ln w="12700">
            <a:solidFill>
              <a:srgbClr val="D5DAE3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74980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6B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VR SAFETY TRAINING · PROJECT PLAN · v0.7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94360" y="4011358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94360" y="4885055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착용 교육 </a:t>
            </a:r>
            <a:r>
              <a:rPr lang="en-US" sz="20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</a:t>
            </a: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0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기획서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" y="9499918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 err="1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작성일</a:t>
            </a:r>
            <a:r>
              <a:rPr lang="en-US" sz="14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2026.08.13</a:t>
            </a:r>
            <a:endParaRPr lang="en-US" sz="14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ED2E8621-EFE1-E866-0998-1B76AA03B154}"/>
              </a:ext>
            </a:extLst>
          </p:cNvPr>
          <p:cNvSpPr/>
          <p:nvPr/>
        </p:nvSpPr>
        <p:spPr>
          <a:xfrm>
            <a:off x="502920" y="907402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00" b="1" dirty="0" err="1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</a:t>
            </a:r>
            <a:r>
              <a:rPr lang="ko-KR" altLang="en-US" sz="1400" b="1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</a:t>
            </a:r>
            <a:r>
              <a:rPr lang="en-US" sz="1400" b="1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r>
              <a:rPr lang="ko-KR" altLang="en-US" sz="14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 팀 </a:t>
            </a:r>
            <a:r>
              <a:rPr lang="en-US" altLang="ko-KR" sz="14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Tyche(</a:t>
            </a:r>
            <a:r>
              <a:rPr lang="ko-KR" altLang="en-US" sz="1400" dirty="0" err="1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티케</a:t>
            </a:r>
            <a:r>
              <a:rPr lang="en-US" altLang="ko-KR" sz="14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· </a:t>
            </a:r>
            <a:r>
              <a:rPr lang="ko-KR" altLang="en-US" sz="1400" b="1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최진영</a:t>
            </a:r>
            <a:endParaRPr lang="en-US" sz="14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7055"/>
            <a:ext cx="7562088" cy="713232"/>
          </a:xfrm>
          <a:prstGeom prst="rect">
            <a:avLst/>
          </a:prstGeom>
          <a:solidFill>
            <a:srgbClr val="18324A"/>
          </a:solidFill>
          <a:ln w="12700">
            <a:solidFill>
              <a:srgbClr val="1832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31647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FD2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4495071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성격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4842543"/>
            <a:ext cx="6263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dirty="0">
                <a:solidFill>
                  <a:srgbClr val="DCE8F5"/>
                </a:solidFill>
                <a:latin typeface="Malgun Gothic" pitchFamily="34" charset="0"/>
                <a:ea typeface="Malgun Gothic" pitchFamily="34" charset="-122"/>
              </a:rPr>
              <a:t>전체 상세 기획의 프로토 타입 범위의 기획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7490236"/>
            <a:ext cx="6355080" cy="1868806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7702834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</a:t>
            </a:r>
            <a:r>
              <a:rPr lang="en-US" altLang="ko-KR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VR </a:t>
            </a:r>
            <a:r>
              <a:rPr lang="ko-KR" altLang="en-US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 기획서</a:t>
            </a:r>
            <a:r>
              <a:rPr lang="ko-KR" alt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(PPTX</a:t>
            </a:r>
            <a:r>
              <a:rPr lang="ko-KR" alt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</a:t>
            </a:r>
            <a:r>
              <a:rPr lang="en-US" altLang="ko-KR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altLang="ko-KR" sz="1600" dirty="0"/>
          </a:p>
        </p:txBody>
      </p:sp>
      <p:sp>
        <p:nvSpPr>
          <p:cNvPr id="9" name="Text 7"/>
          <p:cNvSpPr/>
          <p:nvPr/>
        </p:nvSpPr>
        <p:spPr>
          <a:xfrm>
            <a:off x="795528" y="8126664"/>
            <a:ext cx="5952744" cy="1581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PPE 착용 교육 프로토타입의 목표와 범위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교육 · 훈련 · 테스트 3모드 설계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교육모드 완주 루트의 상세 유저 시나리오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TTS 선정 근거 · 예산 · 제작 규칙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Unity/XR 구현을 위한 상태 · 조작 · QA 계획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5432329"/>
            <a:ext cx="6355080" cy="1749934"/>
          </a:xfrm>
          <a:prstGeom prst="roundRect">
            <a:avLst>
              <a:gd name="adj" fmla="val 3509"/>
            </a:avLst>
          </a:prstGeom>
          <a:solidFill>
            <a:srgbClr val="E8F1FF"/>
          </a:solidFill>
          <a:ln w="12700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1" name="Text 9"/>
          <p:cNvSpPr/>
          <p:nvPr/>
        </p:nvSpPr>
        <p:spPr>
          <a:xfrm>
            <a:off x="795528" y="5646864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 문서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5528" y="6012624"/>
            <a:ext cx="5952744" cy="111231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VR 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상세기획서 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(HTML</a:t>
            </a:r>
            <a:r>
              <a:rPr lang="ko-KR" alt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</a:t>
            </a:r>
            <a:r>
              <a:rPr lang="en-US" altLang="ko-KR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r>
              <a:rPr lang="en-US" dirty="0"/>
              <a:t>1</a:t>
            </a: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646A7A27-5D61-DF91-EBCA-31AEBFF9AD98}"/>
              </a:ext>
            </a:extLst>
          </p:cNvPr>
          <p:cNvSpPr/>
          <p:nvPr/>
        </p:nvSpPr>
        <p:spPr>
          <a:xfrm>
            <a:off x="795528" y="6788498"/>
            <a:ext cx="595274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62" name="Shape 0">
            <a:extLst>
              <a:ext uri="{FF2B5EF4-FFF2-40B4-BE49-F238E27FC236}">
                <a16:creationId xmlns:a16="http://schemas.microsoft.com/office/drawing/2014/main" id="{BF5809B1-2FA3-71E5-9166-DDB80FADD041}"/>
              </a:ext>
            </a:extLst>
          </p:cNvPr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rgbClr val="18324A"/>
          </a:solidFill>
          <a:ln w="12700">
            <a:solidFill>
              <a:srgbClr val="18324A"/>
            </a:solidFill>
            <a:prstDash val="solid"/>
          </a:ln>
        </p:spPr>
      </p:sp>
      <p:sp>
        <p:nvSpPr>
          <p:cNvPr id="63" name="Text 1">
            <a:extLst>
              <a:ext uri="{FF2B5EF4-FFF2-40B4-BE49-F238E27FC236}">
                <a16:creationId xmlns:a16="http://schemas.microsoft.com/office/drawing/2014/main" id="{761670D3-0EE0-7748-6F71-C70273E2B8DC}"/>
              </a:ext>
            </a:extLst>
          </p:cNvPr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FD2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</a:t>
            </a:r>
            <a:endParaRPr lang="en-US" sz="1400" dirty="0"/>
          </a:p>
        </p:txBody>
      </p:sp>
      <p:sp>
        <p:nvSpPr>
          <p:cNvPr id="64" name="Text 2">
            <a:extLst>
              <a:ext uri="{FF2B5EF4-FFF2-40B4-BE49-F238E27FC236}">
                <a16:creationId xmlns:a16="http://schemas.microsoft.com/office/drawing/2014/main" id="{317584D4-F2B0-F0AE-A7C4-C2E9FB92D6DF}"/>
              </a:ext>
            </a:extLst>
          </p:cNvPr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 히스토리</a:t>
            </a:r>
            <a:endParaRPr lang="en-US" sz="2000" dirty="0"/>
          </a:p>
        </p:txBody>
      </p:sp>
      <p:sp>
        <p:nvSpPr>
          <p:cNvPr id="65" name="Text 3">
            <a:extLst>
              <a:ext uri="{FF2B5EF4-FFF2-40B4-BE49-F238E27FC236}">
                <a16:creationId xmlns:a16="http://schemas.microsoft.com/office/drawing/2014/main" id="{E486DEAC-8E5E-03E4-C42A-AA12B503C0B3}"/>
              </a:ext>
            </a:extLst>
          </p:cNvPr>
          <p:cNvSpPr/>
          <p:nvPr/>
        </p:nvSpPr>
        <p:spPr>
          <a:xfrm>
            <a:off x="1097280" y="475488"/>
            <a:ext cx="6263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전 계획 기준으로 문서 범위를 정리한다</a:t>
            </a:r>
            <a:endParaRPr lang="en-US" sz="1400" dirty="0"/>
          </a:p>
        </p:txBody>
      </p:sp>
      <p:sp>
        <p:nvSpPr>
          <p:cNvPr id="66" name="Text 5">
            <a:extLst>
              <a:ext uri="{FF2B5EF4-FFF2-40B4-BE49-F238E27FC236}">
                <a16:creationId xmlns:a16="http://schemas.microsoft.com/office/drawing/2014/main" id="{0FF87ACA-5AC1-50F4-6DBE-D025ABDD37F8}"/>
              </a:ext>
            </a:extLst>
          </p:cNvPr>
          <p:cNvSpPr/>
          <p:nvPr/>
        </p:nvSpPr>
        <p:spPr>
          <a:xfrm>
            <a:off x="426720" y="1481825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v0.1   </a:t>
            </a:r>
            <a:r>
              <a:rPr lang="en-US" sz="1800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2026.07.30</a:t>
            </a:r>
            <a:endParaRPr lang="en-US" sz="1800" dirty="0"/>
          </a:p>
        </p:txBody>
      </p:sp>
      <p:sp>
        <p:nvSpPr>
          <p:cNvPr id="67" name="Text 6">
            <a:extLst>
              <a:ext uri="{FF2B5EF4-FFF2-40B4-BE49-F238E27FC236}">
                <a16:creationId xmlns:a16="http://schemas.microsoft.com/office/drawing/2014/main" id="{2E60577E-E1D2-0AC8-961F-86941F2512FE}"/>
              </a:ext>
            </a:extLst>
          </p:cNvPr>
          <p:cNvSpPr/>
          <p:nvPr/>
        </p:nvSpPr>
        <p:spPr>
          <a:xfrm>
            <a:off x="2521266" y="1489106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최진영   </a:t>
            </a:r>
            <a:r>
              <a:rPr lang="en-US" sz="145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최초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PPE 착용 교육 프로토타입 기획 초안 작성</a:t>
            </a:r>
            <a:endParaRPr lang="en-US" sz="1450" dirty="0"/>
          </a:p>
        </p:txBody>
      </p:sp>
      <p:sp>
        <p:nvSpPr>
          <p:cNvPr id="68" name="Text 7">
            <a:extLst>
              <a:ext uri="{FF2B5EF4-FFF2-40B4-BE49-F238E27FC236}">
                <a16:creationId xmlns:a16="http://schemas.microsoft.com/office/drawing/2014/main" id="{EC23C393-D840-1DD6-8E2A-0ABC753B645E}"/>
              </a:ext>
            </a:extLst>
          </p:cNvPr>
          <p:cNvSpPr/>
          <p:nvPr/>
        </p:nvSpPr>
        <p:spPr>
          <a:xfrm>
            <a:off x="426720" y="192942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v0.2   </a:t>
            </a:r>
            <a:r>
              <a:rPr lang="en-US" sz="1800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2026.07.31</a:t>
            </a:r>
            <a:endParaRPr lang="en-US" sz="1800" dirty="0"/>
          </a:p>
        </p:txBody>
      </p:sp>
      <p:sp>
        <p:nvSpPr>
          <p:cNvPr id="69" name="Text 8">
            <a:extLst>
              <a:ext uri="{FF2B5EF4-FFF2-40B4-BE49-F238E27FC236}">
                <a16:creationId xmlns:a16="http://schemas.microsoft.com/office/drawing/2014/main" id="{171CD895-D9A1-F0F1-F5C0-0DF69F732D46}"/>
              </a:ext>
            </a:extLst>
          </p:cNvPr>
          <p:cNvSpPr/>
          <p:nvPr/>
        </p:nvSpPr>
        <p:spPr>
          <a:xfrm>
            <a:off x="2521266" y="1923923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최진영   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 설정 오류로 잘못 작성된 부분 수정</a:t>
            </a:r>
            <a:endParaRPr lang="en-US" sz="1450" dirty="0"/>
          </a:p>
        </p:txBody>
      </p:sp>
      <p:sp>
        <p:nvSpPr>
          <p:cNvPr id="70" name="Text 9">
            <a:extLst>
              <a:ext uri="{FF2B5EF4-FFF2-40B4-BE49-F238E27FC236}">
                <a16:creationId xmlns:a16="http://schemas.microsoft.com/office/drawing/2014/main" id="{5E27C556-2A3F-E1C0-00B4-E7F2018544B8}"/>
              </a:ext>
            </a:extLst>
          </p:cNvPr>
          <p:cNvSpPr/>
          <p:nvPr/>
        </p:nvSpPr>
        <p:spPr>
          <a:xfrm>
            <a:off x="426720" y="2408169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v0.3   </a:t>
            </a:r>
            <a:r>
              <a:rPr lang="en-US" sz="1800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2026.08.04</a:t>
            </a:r>
            <a:endParaRPr lang="en-US" sz="180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E1650CB6-4F51-D19C-E40F-CD546EF65583}"/>
              </a:ext>
            </a:extLst>
          </p:cNvPr>
          <p:cNvSpPr/>
          <p:nvPr/>
        </p:nvSpPr>
        <p:spPr>
          <a:xfrm>
            <a:off x="2521266" y="2402385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최진영    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3모드, 시간대별 시나리오, TTS, 목차 보완</a:t>
            </a:r>
            <a:endParaRPr lang="en-US" sz="1450" dirty="0"/>
          </a:p>
        </p:txBody>
      </p:sp>
      <p:sp>
        <p:nvSpPr>
          <p:cNvPr id="72" name="Text 11">
            <a:extLst>
              <a:ext uri="{FF2B5EF4-FFF2-40B4-BE49-F238E27FC236}">
                <a16:creationId xmlns:a16="http://schemas.microsoft.com/office/drawing/2014/main" id="{E18A5560-61F1-922B-8F21-1B8B8C993787}"/>
              </a:ext>
            </a:extLst>
          </p:cNvPr>
          <p:cNvSpPr/>
          <p:nvPr/>
        </p:nvSpPr>
        <p:spPr>
          <a:xfrm>
            <a:off x="426720" y="28833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v0.7   </a:t>
            </a:r>
            <a:r>
              <a:rPr lang="en-US" sz="1800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2026.08.13</a:t>
            </a:r>
            <a:endParaRPr lang="en-US" sz="1800" dirty="0"/>
          </a:p>
        </p:txBody>
      </p:sp>
      <p:sp>
        <p:nvSpPr>
          <p:cNvPr id="73" name="Text 12">
            <a:extLst>
              <a:ext uri="{FF2B5EF4-FFF2-40B4-BE49-F238E27FC236}">
                <a16:creationId xmlns:a16="http://schemas.microsoft.com/office/drawing/2014/main" id="{2ED272FA-5616-F710-EE48-A66CFD144252}"/>
              </a:ext>
            </a:extLst>
          </p:cNvPr>
          <p:cNvSpPr/>
          <p:nvPr/>
        </p:nvSpPr>
        <p:spPr>
          <a:xfrm>
            <a:off x="2521266" y="2823009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최진영  </a:t>
            </a: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개발 시작 전 계획 기준으로 재정리</a:t>
            </a:r>
            <a:endParaRPr lang="en-US" sz="1450" dirty="0"/>
          </a:p>
        </p:txBody>
      </p:sp>
      <p:sp>
        <p:nvSpPr>
          <p:cNvPr id="74" name="Text 13">
            <a:extLst>
              <a:ext uri="{FF2B5EF4-FFF2-40B4-BE49-F238E27FC236}">
                <a16:creationId xmlns:a16="http://schemas.microsoft.com/office/drawing/2014/main" id="{AD82DF2B-9F4B-9C9C-1640-D71948425F58}"/>
              </a:ext>
            </a:extLst>
          </p:cNvPr>
          <p:cNvSpPr/>
          <p:nvPr/>
        </p:nvSpPr>
        <p:spPr>
          <a:xfrm>
            <a:off x="3329940" y="3225345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교육모드 완주 목표를 명확화</a:t>
            </a:r>
            <a:endParaRPr lang="en-US" sz="1450" dirty="0"/>
          </a:p>
        </p:txBody>
      </p:sp>
      <p:sp>
        <p:nvSpPr>
          <p:cNvPr id="75" name="Text 14">
            <a:extLst>
              <a:ext uri="{FF2B5EF4-FFF2-40B4-BE49-F238E27FC236}">
                <a16:creationId xmlns:a16="http://schemas.microsoft.com/office/drawing/2014/main" id="{4DAB38D4-9415-E84F-75F3-E2B7B72F5D30}"/>
              </a:ext>
            </a:extLst>
          </p:cNvPr>
          <p:cNvSpPr/>
          <p:nvPr/>
        </p:nvSpPr>
        <p:spPr>
          <a:xfrm>
            <a:off x="3329940" y="3572817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착용 교육 외 범위 제거</a:t>
            </a:r>
            <a:endParaRPr lang="en-US" sz="1450" dirty="0"/>
          </a:p>
        </p:txBody>
      </p:sp>
      <p:sp>
        <p:nvSpPr>
          <p:cNvPr id="84" name="Text 5">
            <a:extLst>
              <a:ext uri="{FF2B5EF4-FFF2-40B4-BE49-F238E27FC236}">
                <a16:creationId xmlns:a16="http://schemas.microsoft.com/office/drawing/2014/main" id="{11070AEE-EC09-501B-016C-248A5FCD9C82}"/>
              </a:ext>
            </a:extLst>
          </p:cNvPr>
          <p:cNvSpPr/>
          <p:nvPr/>
        </p:nvSpPr>
        <p:spPr>
          <a:xfrm>
            <a:off x="502920" y="924721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</a:t>
            </a:r>
            <a:r>
              <a:rPr lang="en-US" sz="1800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 </a:t>
            </a:r>
            <a:r>
              <a:rPr lang="ko-KR" altLang="en-US" sz="1800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      작성자               주요 변경 내용 </a:t>
            </a:r>
            <a:endParaRPr lang="en-US" sz="1800" dirty="0"/>
          </a:p>
        </p:txBody>
      </p: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3221722A-AFE2-24ED-63B8-6BF3FECF6D34}"/>
              </a:ext>
            </a:extLst>
          </p:cNvPr>
          <p:cNvCxnSpPr>
            <a:cxnSpLocks/>
          </p:cNvCxnSpPr>
          <p:nvPr/>
        </p:nvCxnSpPr>
        <p:spPr>
          <a:xfrm>
            <a:off x="426720" y="1285936"/>
            <a:ext cx="678561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17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rgbClr val="18324A"/>
          </a:solidFill>
          <a:ln w="12700">
            <a:solidFill>
              <a:srgbClr val="18324A"/>
            </a:solidFill>
            <a:prstDash val="solid"/>
          </a:ln>
        </p:spPr>
      </p:sp>
      <p:sp>
        <p:nvSpPr>
          <p:cNvPr id="18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FD2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</a:t>
            </a:r>
            <a:endParaRPr lang="en-US" sz="1400" dirty="0"/>
          </a:p>
        </p:txBody>
      </p:sp>
      <p:sp>
        <p:nvSpPr>
          <p:cNvPr id="19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000" dirty="0"/>
          </a:p>
        </p:txBody>
      </p:sp>
      <p:sp>
        <p:nvSpPr>
          <p:cNvPr id="20" name="Text 3"/>
          <p:cNvSpPr/>
          <p:nvPr/>
        </p:nvSpPr>
        <p:spPr>
          <a:xfrm>
            <a:off x="1097280" y="475488"/>
            <a:ext cx="6263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· 시나리오 · TTS · 구현계획 순서로 구성한다</a:t>
            </a:r>
            <a:endParaRPr lang="en-US" sz="1400" dirty="0"/>
          </a:p>
        </p:txBody>
      </p:sp>
      <p:sp>
        <p:nvSpPr>
          <p:cNvPr id="21" name="Shape 5"/>
          <p:cNvSpPr/>
          <p:nvPr/>
        </p:nvSpPr>
        <p:spPr>
          <a:xfrm>
            <a:off x="594360" y="1143000"/>
            <a:ext cx="6172962" cy="1780337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2" name="Text 6"/>
          <p:cNvSpPr/>
          <p:nvPr/>
        </p:nvSpPr>
        <p:spPr>
          <a:xfrm>
            <a:off x="795528" y="1307592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기준</a:t>
            </a:r>
            <a:endParaRPr lang="en-US" sz="1600" dirty="0"/>
          </a:p>
        </p:txBody>
      </p:sp>
      <p:sp>
        <p:nvSpPr>
          <p:cNvPr id="23" name="Text 7"/>
          <p:cNvSpPr/>
          <p:nvPr/>
        </p:nvSpPr>
        <p:spPr>
          <a:xfrm>
            <a:off x="795528" y="1673352"/>
            <a:ext cx="2569464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프로젝트 배경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기획 피드백과 목표 정의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프로토타입 개발 범위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PPE 항목과 학습 루프</a:t>
            </a:r>
            <a:endParaRPr lang="en-US" sz="1400" dirty="0"/>
          </a:p>
        </p:txBody>
      </p:sp>
      <p:sp>
        <p:nvSpPr>
          <p:cNvPr id="24" name="Shape 8"/>
          <p:cNvSpPr/>
          <p:nvPr/>
        </p:nvSpPr>
        <p:spPr>
          <a:xfrm>
            <a:off x="594360" y="3132391"/>
            <a:ext cx="6172962" cy="1780337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6" name="Text 9"/>
          <p:cNvSpPr/>
          <p:nvPr/>
        </p:nvSpPr>
        <p:spPr>
          <a:xfrm>
            <a:off x="795528" y="3296983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유저 시나리오</a:t>
            </a:r>
            <a:endParaRPr lang="en-US" sz="1600" dirty="0"/>
          </a:p>
        </p:txBody>
      </p:sp>
      <p:sp>
        <p:nvSpPr>
          <p:cNvPr id="27" name="Text 10"/>
          <p:cNvSpPr/>
          <p:nvPr/>
        </p:nvSpPr>
        <p:spPr>
          <a:xfrm>
            <a:off x="795528" y="3662743"/>
            <a:ext cx="2569464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공통 조작 설계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상태 흐름 설계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교육모드 상세 시나리오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훈련모드 설계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테스트모드 설계</a:t>
            </a:r>
            <a:endParaRPr lang="en-US" sz="1400" dirty="0"/>
          </a:p>
        </p:txBody>
      </p:sp>
      <p:sp>
        <p:nvSpPr>
          <p:cNvPr id="28" name="Shape 11"/>
          <p:cNvSpPr/>
          <p:nvPr/>
        </p:nvSpPr>
        <p:spPr>
          <a:xfrm>
            <a:off x="594360" y="5121782"/>
            <a:ext cx="6172962" cy="202311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9" name="Text 12"/>
          <p:cNvSpPr/>
          <p:nvPr/>
        </p:nvSpPr>
        <p:spPr>
          <a:xfrm>
            <a:off x="795528" y="5286374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 계획</a:t>
            </a:r>
            <a:endParaRPr lang="en-US" sz="1600" dirty="0"/>
          </a:p>
        </p:txBody>
      </p:sp>
      <p:sp>
        <p:nvSpPr>
          <p:cNvPr id="30" name="Text 13"/>
          <p:cNvSpPr/>
          <p:nvPr/>
        </p:nvSpPr>
        <p:spPr>
          <a:xfrm>
            <a:off x="795528" y="5652134"/>
            <a:ext cx="2569464" cy="162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TTS 선정 기준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TTS 모델 비교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TTS 예산과 제작량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TTS 파일 · 이벤트 관리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TTS 스크립트 샘플</a:t>
            </a:r>
            <a:endParaRPr lang="en-US" sz="1400" dirty="0"/>
          </a:p>
        </p:txBody>
      </p:sp>
      <p:sp>
        <p:nvSpPr>
          <p:cNvPr id="31" name="Shape 14"/>
          <p:cNvSpPr/>
          <p:nvPr/>
        </p:nvSpPr>
        <p:spPr>
          <a:xfrm>
            <a:off x="594360" y="7371206"/>
            <a:ext cx="6172962" cy="202311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32" name="Text 15"/>
          <p:cNvSpPr/>
          <p:nvPr/>
        </p:nvSpPr>
        <p:spPr>
          <a:xfrm>
            <a:off x="795528" y="7535798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· 검증 계획</a:t>
            </a:r>
            <a:endParaRPr lang="en-US" sz="1600" dirty="0"/>
          </a:p>
        </p:txBody>
      </p:sp>
      <p:sp>
        <p:nvSpPr>
          <p:cNvPr id="33" name="Text 16"/>
          <p:cNvSpPr/>
          <p:nvPr/>
        </p:nvSpPr>
        <p:spPr>
          <a:xfrm>
            <a:off x="795528" y="7901558"/>
            <a:ext cx="2569464" cy="162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구현 구조 계획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QA 계획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산출물 계획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개발 전 체크리스트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rgbClr val="18324A"/>
          </a:solidFill>
          <a:ln w="12700">
            <a:solidFill>
              <a:srgbClr val="1832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FD2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</a:t>
            </a: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</a:t>
            </a:r>
            <a:r>
              <a:rPr lang="ko-KR" alt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개요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475488"/>
            <a:ext cx="6263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작업 전 PPE 착용 판단을 VR로 학습한다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996696"/>
            <a:ext cx="63550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161288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인식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952744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작업에서 PPE는 “착용했다”만으로 충분하지 않다. 작업 조건에 맞는 보호구인지, 손상과 오염은 없는지, 연결부와 틈은 안전한지 사용자가 스스로 판단해야 한다.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2679192"/>
            <a:ext cx="6355080" cy="658368"/>
          </a:xfrm>
          <a:prstGeom prst="roundRect">
            <a:avLst>
              <a:gd name="adj" fmla="val 13889"/>
            </a:avLst>
          </a:prstGeom>
          <a:solidFill>
            <a:srgbClr val="E8F1FF"/>
          </a:solidFill>
          <a:ln w="12700">
            <a:solidFill>
              <a:srgbClr val="246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907792"/>
            <a:ext cx="5989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교육</a:t>
            </a:r>
            <a:r>
              <a:rPr lang="en-US" sz="15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</a:t>
            </a:r>
            <a:r>
              <a:rPr lang="en-US" sz="1500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보는 교육 </a:t>
            </a:r>
            <a:r>
              <a:rPr lang="en-US" sz="15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직접 수행 → 피드백 → 반복 학습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4360" y="4251960"/>
            <a:ext cx="6355080" cy="2286000"/>
          </a:xfrm>
          <a:prstGeom prst="roundRect">
            <a:avLst>
              <a:gd name="adj" fmla="val 3200"/>
            </a:avLst>
          </a:prstGeom>
          <a:solidFill>
            <a:srgbClr val="EAF7F0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441655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VR 적용 이유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95528" y="4782312"/>
            <a:ext cx="5952744" cy="162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사용자가 PPE를 직접 잡고 돌려보며 판단하는 경험을 만들 수 있다.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실제 위험 없이 손상 PPE와 오착용 가능성을 설명할 수 있다.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안내 음성, 자막, 시각 강조를 동시에 사용해 VR 초보자의 부담을 줄일 수 있다.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같은 PPE 루트를 교육 · 훈련 · 테스트로 나누어 반복 학습 구조를 만들 수 있다.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6903720"/>
            <a:ext cx="6355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" y="706831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관점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95528" y="7434072"/>
            <a:ext cx="595274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기획의 중심은 화려한 공간 확장이 아니라 사용자가 PPE 절차를 이해하고 끝까지 수행할 수 있는 교육 루트다.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rgbClr val="18324A"/>
          </a:solidFill>
          <a:ln w="12700">
            <a:solidFill>
              <a:srgbClr val="1832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FD2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</a:t>
            </a:r>
            <a:r>
              <a:rPr lang="en-US" sz="20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</a:t>
            </a: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피드백과 목표 정의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475488"/>
            <a:ext cx="6263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3모드 설계와 교육모드 완주 목표를 분리한다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63550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1615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피드백 1 · 모드 구분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5528" y="1581912"/>
            <a:ext cx="595274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· 훈련 · 테스트를 단순 메뉴 이름이 아니라 서로 다른 학습 경험으로 설계한다. 교육은 상세 안내, 훈련은 반복 연습, 테스트는 독립 수행 평가가 되어야 한다.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2651760"/>
            <a:ext cx="63550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81635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피드백 2 · 품질 우선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5528" y="3182112"/>
            <a:ext cx="595274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기능을 넓게 나열하기보다 사용자가 실제로 시작부터 끝까지 따라갈 수 있는 하나의 학습 루트를 명확하게 만든다.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" y="3950208"/>
            <a:ext cx="63550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4114800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피드백 3 · 검증 가능성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95528" y="4480560"/>
            <a:ext cx="595274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프로토타입은 설명만 있는 기획이 아니라 시연 가능한 루트와 QA 기준까지 함께 갖추어야 한다.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" y="5285232"/>
            <a:ext cx="6355080" cy="1536192"/>
          </a:xfrm>
          <a:prstGeom prst="roundRect">
            <a:avLst>
              <a:gd name="adj" fmla="val 4762"/>
            </a:avLst>
          </a:prstGeom>
          <a:solidFill>
            <a:srgbClr val="E8F1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5449824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프로토타입 목표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95528" y="5815584"/>
            <a:ext cx="5952744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PPE 룸에 진입해 안내를 듣고, PPE를 집고, 점검하고, 정상/결함을 판단하고, 착용하고, 최종 확인과 미니 퀴즈까지 끊김 없이 진행하는 교육모드 완주를 목표로 한다.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7452360"/>
            <a:ext cx="635508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46B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기획 방향: PPE 교육 · 훈련 · 테스트 3모드 설계  /  프로토타입 목표: 교육모드 완주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rgbClr val="18324A"/>
          </a:solidFill>
          <a:ln w="12700">
            <a:solidFill>
              <a:srgbClr val="1832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FD2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 개발 범위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475488"/>
            <a:ext cx="6263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착용 교육모드 완주를 기준으로 계획한다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143000"/>
            <a:ext cx="1234440" cy="554355"/>
          </a:xfrm>
          <a:prstGeom prst="rect">
            <a:avLst/>
          </a:prstGeom>
          <a:solidFill>
            <a:srgbClr val="18324A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828800" y="1143000"/>
            <a:ext cx="5120640" cy="554355"/>
          </a:xfrm>
          <a:prstGeom prst="rect">
            <a:avLst/>
          </a:prstGeom>
          <a:solidFill>
            <a:srgbClr val="18324A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내용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94360" y="1697355"/>
            <a:ext cx="1234440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포함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828800" y="1697355"/>
            <a:ext cx="5120640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룸 진입, 작업 정보 확인, PPE 7종 확인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251710"/>
            <a:ext cx="1234440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28800" y="2251710"/>
            <a:ext cx="5120640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Grab · 회전 · 결함 확인 · 정상/결함 판정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2806065"/>
            <a:ext cx="1234440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28800" y="2806065"/>
            <a:ext cx="5120640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PPE 선택, 착용 처리, 최종 착용 확인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3360420"/>
            <a:ext cx="1234440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포함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828800" y="3360420"/>
            <a:ext cx="5120640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 TTS · 자막 · 시각 강조 · 오류 해설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3914775"/>
            <a:ext cx="1234440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포함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28800" y="3914775"/>
            <a:ext cx="5120640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미니 퀴즈와 결과 요약 화면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4469130"/>
            <a:ext cx="1234440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제외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828800" y="4469130"/>
            <a:ext cx="5120640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외 다른 안전 시나리오 전체 구현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4360" y="5023485"/>
            <a:ext cx="1234440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제외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828800" y="5023485"/>
            <a:ext cx="5120640" cy="55435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착용 교육 외 시스템 구현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94360" y="6053328"/>
            <a:ext cx="6355080" cy="1389888"/>
          </a:xfrm>
          <a:prstGeom prst="roundRect">
            <a:avLst>
              <a:gd name="adj" fmla="val 5263"/>
            </a:avLst>
          </a:prstGeom>
          <a:solidFill>
            <a:srgbClr val="E8F1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5528" y="6217920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 원칙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95528" y="6583680"/>
            <a:ext cx="5952744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단계에서는 PPE 착용 교육 루트와 3모드 정책을 설계한다. 이번 프로토타입의 성공 기준은 교육모드를 끊김 없이 완주할 수 있도록 계획을 세우는 것이다.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94360" y="7726680"/>
            <a:ext cx="63550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5528" y="789127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95528" y="8257032"/>
            <a:ext cx="595274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문서는 개발 전 계획 문서이므로 실제 구현 완료 여부, 개발 중 변경 사유, 버그 해결 결과는 포함하지 않는다.</a:t>
            </a:r>
            <a:endParaRPr lang="en-US" sz="14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rgbClr val="18324A"/>
          </a:solidFill>
          <a:ln w="12700">
            <a:solidFill>
              <a:srgbClr val="1832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FD2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항목과 점검 기준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475488"/>
            <a:ext cx="6263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7종을 교육 루프에 배치한다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1417320" cy="840105"/>
          </a:xfrm>
          <a:prstGeom prst="rect">
            <a:avLst/>
          </a:prstGeom>
          <a:solidFill>
            <a:srgbClr val="18324A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920240" y="1051560"/>
            <a:ext cx="5120640" cy="840105"/>
          </a:xfrm>
          <a:prstGeom prst="rect">
            <a:avLst/>
          </a:prstGeom>
          <a:solidFill>
            <a:srgbClr val="18324A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중 확인할 점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02920" y="1891665"/>
            <a:ext cx="1417320" cy="8401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방호복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920240" y="1891665"/>
            <a:ext cx="5120640" cy="8401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크기 적합성, 지퍼와 목 부분 밀폐, 찢김/오염 여부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731770"/>
            <a:ext cx="1417320" cy="8401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보호장갑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920240" y="2731770"/>
            <a:ext cx="5120640" cy="8401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찢김, 구멍, 오염, 손목 연결부 틈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3571875"/>
            <a:ext cx="1417320" cy="8401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보호장화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920240" y="3571875"/>
            <a:ext cx="5120640" cy="8401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바지단 연결, 장화 안으로 액체 유입 가능성, 미끄럼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4411980"/>
            <a:ext cx="1417320" cy="8401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호흡보호구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920240" y="4411980"/>
            <a:ext cx="5120640" cy="8401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착용 방향, 밀착 상태, 연결부 상태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5252085"/>
            <a:ext cx="1417320" cy="8401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안전모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920240" y="5252085"/>
            <a:ext cx="5120640" cy="8401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머리 고정, 턱끈/착용 위치, 시야 방해 여부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6092190"/>
            <a:ext cx="1417320" cy="8401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등지게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920240" y="6092190"/>
            <a:ext cx="5120640" cy="8401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어깨끈/허리끈 밀착, 호스 걸림 가능성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6932295"/>
            <a:ext cx="1417320" cy="8401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테이프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920240" y="6932295"/>
            <a:ext cx="5120640" cy="8401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장갑·방호복 연결부 틈, 너무 느슨하거나 과한 감김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4360" y="8065008"/>
            <a:ext cx="635508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 기준은 프로토타입 샘플이며 실제 보호구 등급과 세부 기준은 작업계획과 안전자료에 맞추어 확정한다.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rgbClr val="18324A"/>
          </a:solidFill>
          <a:ln w="12700">
            <a:solidFill>
              <a:srgbClr val="1832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FD2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학습 루프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475488"/>
            <a:ext cx="6263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번의 루트 안에서 확인 · 판단 · 착용 · 복습을 연결한다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2648" y="1097280"/>
            <a:ext cx="347472" cy="347472"/>
          </a:xfrm>
          <a:prstGeom prst="ellipse">
            <a:avLst/>
          </a:prstGeom>
          <a:solidFill>
            <a:srgbClr val="246BFE"/>
          </a:solidFill>
          <a:ln w="12700">
            <a:solidFill>
              <a:srgbClr val="246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1188720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10515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정보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43200" y="10515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장소와 위험 정보를 확인한다.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12648" y="1810512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46B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" y="1901952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46B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17647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확인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43200" y="17647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 PPE 7종과 착용 목적을 확인한다.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12648" y="2523744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46B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" y="2615184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46B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247802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집기 · 점검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743200" y="247802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보호구를 잡고 회전해 결함 포인트를 본다.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12648" y="3236976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46B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" y="3328416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46B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319125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정상/결함 판단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743200" y="319125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직접 정상 또는 결함을 판정한다.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12648" y="3950208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46B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" y="4041648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46B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97280" y="39044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착용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743200" y="390448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PPE를 착용하고 상태를 기록한다.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612648" y="4663440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46B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" y="4754880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46B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97280" y="46177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확인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2743200" y="46177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거울/확인 UI로 누락과 연결부를 점검한다.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612648" y="5376672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46B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" y="5468112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46B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97280" y="53309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미니 퀴즈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2743200" y="53309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수칙을 짧은 문제로 복습한다.</a:t>
            </a:r>
            <a:endParaRPr lang="en-US" sz="1450" dirty="0"/>
          </a:p>
        </p:txBody>
      </p:sp>
      <p:sp>
        <p:nvSpPr>
          <p:cNvPr id="35" name="Shape 33"/>
          <p:cNvSpPr/>
          <p:nvPr/>
        </p:nvSpPr>
        <p:spPr>
          <a:xfrm>
            <a:off x="594360" y="6492240"/>
            <a:ext cx="6355080" cy="1097280"/>
          </a:xfrm>
          <a:prstGeom prst="roundRect">
            <a:avLst>
              <a:gd name="adj" fmla="val 6667"/>
            </a:avLst>
          </a:prstGeom>
          <a:solidFill>
            <a:srgbClr val="EAF7F0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5528" y="665683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 원칙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95528" y="7022592"/>
            <a:ext cx="595274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오답이 나오면 탈락시키지 않고 이유를 설명한 뒤 재판정하게 한다. 목표는 평가보다 올바른 판단 방법 학습이다.</a:t>
            </a:r>
            <a:endParaRPr lang="en-US" sz="14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rgbClr val="18324A"/>
          </a:solidFill>
          <a:ln w="12700">
            <a:solidFill>
              <a:srgbClr val="1832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FD2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조작 설계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475488"/>
            <a:ext cx="6263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VR 초보 사용자를 고려해 입력을 단순화한다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1234440" cy="738051"/>
          </a:xfrm>
          <a:prstGeom prst="rect">
            <a:avLst/>
          </a:prstGeom>
          <a:solidFill>
            <a:srgbClr val="18324A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737360" y="1051560"/>
            <a:ext cx="2057400" cy="738051"/>
          </a:xfrm>
          <a:prstGeom prst="rect">
            <a:avLst/>
          </a:prstGeom>
          <a:solidFill>
            <a:srgbClr val="18324A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기능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794760" y="1051560"/>
            <a:ext cx="3246120" cy="738051"/>
          </a:xfrm>
          <a:prstGeom prst="rect">
            <a:avLst/>
          </a:prstGeom>
          <a:solidFill>
            <a:srgbClr val="18324A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의도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02920" y="1789611"/>
            <a:ext cx="123444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Trigger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737360" y="1789611"/>
            <a:ext cx="205740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· 판정 확정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94760" y="1789611"/>
            <a:ext cx="324612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판단을 직접 제출한다.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2527663"/>
            <a:ext cx="123444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737360" y="2527663"/>
            <a:ext cx="205740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잡기 · 놓기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94760" y="2527663"/>
            <a:ext cx="324612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보호구를 눈앞으로 가져와 확인한다.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3265714"/>
            <a:ext cx="123444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회전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737360" y="3265714"/>
            <a:ext cx="205740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상태 확인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94760" y="3265714"/>
            <a:ext cx="324612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손상과 연결부를 여러 각도에서 본다.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4003766"/>
            <a:ext cx="123444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737360" y="4003766"/>
            <a:ext cx="205740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· 다음 단계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794760" y="4003766"/>
            <a:ext cx="324612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안내를 읽고 안전하게 진행한다.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" y="4741817"/>
            <a:ext cx="123444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737360" y="4741817"/>
            <a:ext cx="205740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결함 거부 · 폐기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794760" y="4741817"/>
            <a:ext cx="324612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손상 PPE를 착용하지 않는 판단을 학습한다.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" y="5479869"/>
            <a:ext cx="123444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Poke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737360" y="5479869"/>
            <a:ext cx="205740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체크 · 퀴즈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794760" y="5479869"/>
            <a:ext cx="3246120" cy="738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문서/선택 UI를 손으로 누르는 경험을 제공한다.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94360" y="6583680"/>
            <a:ext cx="6355080" cy="1234440"/>
          </a:xfrm>
          <a:prstGeom prst="roundRect">
            <a:avLst>
              <a:gd name="adj" fmla="val 5926"/>
            </a:avLst>
          </a:prstGeom>
          <a:solidFill>
            <a:srgbClr val="E8F1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5528" y="674827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조작 설계 기준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95528" y="7114032"/>
            <a:ext cx="595274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버튼을 외우는 데 시간을 쓰지 않도록 입력을 최소화한다. 잘못된 입력이 들어와도 상태가 깨지지 않도록 선행 조건과 진행 가능 상태를 분리한다.</a:t>
            </a:r>
            <a:endParaRPr lang="en-US" sz="14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rgbClr val="18324A"/>
          </a:solidFill>
          <a:ln w="12700">
            <a:solidFill>
              <a:srgbClr val="1832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FD2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흐름 설계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475488"/>
            <a:ext cx="6263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PPE별 상태를 나누어 오류 복구가 가능하게 한다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024128"/>
            <a:ext cx="1463040" cy="629920"/>
          </a:xfrm>
          <a:prstGeom prst="rect">
            <a:avLst/>
          </a:prstGeom>
          <a:solidFill>
            <a:srgbClr val="18324A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2057400" y="1024128"/>
            <a:ext cx="4892040" cy="629920"/>
          </a:xfrm>
          <a:prstGeom prst="rect">
            <a:avLst/>
          </a:prstGeom>
          <a:solidFill>
            <a:srgbClr val="18324A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94360" y="1654048"/>
            <a:ext cx="1463040" cy="629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057400" y="1654048"/>
            <a:ext cx="4892040" cy="629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아직 선택되지 않은 PPE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283968"/>
            <a:ext cx="1463040" cy="629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selected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057400" y="2283968"/>
            <a:ext cx="4892040" cy="629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마커 또는 UI로 선택된 PPE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2913888"/>
            <a:ext cx="1463040" cy="629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held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057400" y="2913888"/>
            <a:ext cx="4892040" cy="629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Grip으로 잡은 상태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3543808"/>
            <a:ext cx="1463040" cy="629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inspected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057400" y="3543808"/>
            <a:ext cx="4892040" cy="629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회전 또는 결함 포인트 확인을 마친 상태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4173728"/>
            <a:ext cx="1463040" cy="629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decision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057400" y="4173728"/>
            <a:ext cx="4892040" cy="629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정상/결함 판정 단계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4803648"/>
            <a:ext cx="1463040" cy="629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057400" y="4803648"/>
            <a:ext cx="4892040" cy="629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PPE 착용 처리 완료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4360" y="5433568"/>
            <a:ext cx="1463040" cy="629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final check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057400" y="5433568"/>
            <a:ext cx="4892040" cy="629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PPE 착용 상태 확인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4360" y="6063488"/>
            <a:ext cx="1463040" cy="629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quiz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057400" y="6063488"/>
            <a:ext cx="4892040" cy="629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미니 퀴즈와 결과 요약 단계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94360" y="7040880"/>
            <a:ext cx="6355080" cy="1325880"/>
          </a:xfrm>
          <a:prstGeom prst="roundRect">
            <a:avLst>
              <a:gd name="adj" fmla="val 5517"/>
            </a:avLst>
          </a:prstGeom>
          <a:solidFill>
            <a:srgbClr val="FFF4DE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720547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복구 원칙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95528" y="7571232"/>
            <a:ext cx="5952744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오답 또는 결함 PPE 선택 시 전체 상태를 즉시 초기화하지 않는다. 이유를 설명하고 올바른 재선택으로 이어지게 하여 학습 흐름을 끊지 않는다.</a:t>
            </a:r>
            <a:endParaRPr lang="en-US" sz="14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rgbClr val="18324A"/>
          </a:solidFill>
          <a:ln w="12700">
            <a:solidFill>
              <a:srgbClr val="1832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FD2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 유저 시나리오 개요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475488"/>
            <a:ext cx="6263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안내로 판단 방법을 배우고 한 루트를 완주한다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6355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1615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 목표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5528" y="1581912"/>
            <a:ext cx="5952744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사용하는 학습자도 안내를 따라 PPE를 점검하고, 올바른 보호구를 착용한 뒤, 최종 확인과 미니 퀴즈까지 완료하도록 설계한다.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2514600"/>
            <a:ext cx="1234440" cy="672737"/>
          </a:xfrm>
          <a:prstGeom prst="rect">
            <a:avLst/>
          </a:prstGeom>
          <a:solidFill>
            <a:srgbClr val="18324A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737360" y="2514600"/>
            <a:ext cx="1417320" cy="672737"/>
          </a:xfrm>
          <a:prstGeom prst="rect">
            <a:avLst/>
          </a:prstGeom>
          <a:solidFill>
            <a:srgbClr val="18324A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154680" y="2514600"/>
            <a:ext cx="3886200" cy="672737"/>
          </a:xfrm>
          <a:prstGeom prst="rect">
            <a:avLst/>
          </a:prstGeom>
          <a:solidFill>
            <a:srgbClr val="18324A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행동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02920" y="3187337"/>
            <a:ext cx="1234440" cy="672737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0:00~0:35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737360" y="3187337"/>
            <a:ext cx="1417320" cy="672737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브리핑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154680" y="3187337"/>
            <a:ext cx="3886200" cy="672737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정보와 요구 PPE 7종 확인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3860074"/>
            <a:ext cx="1234440" cy="672737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0:35~0:50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737360" y="3860074"/>
            <a:ext cx="1417320" cy="672737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154680" y="3860074"/>
            <a:ext cx="3886200" cy="672737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진열대 마커 선택과 위치 이동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4532811"/>
            <a:ext cx="1234440" cy="672737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0:50~2:05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737360" y="4532811"/>
            <a:ext cx="1417320" cy="672737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PPE 점검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154680" y="4532811"/>
            <a:ext cx="3886200" cy="672737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장갑 Grab, 회전, 정상/결함 판정, 오류 복구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" y="5205549"/>
            <a:ext cx="1234440" cy="672737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2:20~3:40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737360" y="5205549"/>
            <a:ext cx="1417320" cy="672737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착용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154680" y="5205549"/>
            <a:ext cx="3886200" cy="672737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나머지 PPE 점검과 착용 진행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" y="5878286"/>
            <a:ext cx="1234440" cy="672737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4:00~4:15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737360" y="5878286"/>
            <a:ext cx="1417320" cy="672737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확인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154680" y="5878286"/>
            <a:ext cx="3886200" cy="672737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거울/상태 UI로 착용 누락 확인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" y="6551023"/>
            <a:ext cx="1234440" cy="672737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4:15~5:00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737360" y="6551023"/>
            <a:ext cx="1417320" cy="672737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미니 퀴즈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154680" y="6551023"/>
            <a:ext cx="3886200" cy="672737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3문항 응답, 결과 요약, 허브 복귀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94360" y="7607808"/>
            <a:ext cx="6355080" cy="960120"/>
          </a:xfrm>
          <a:prstGeom prst="roundRect">
            <a:avLst>
              <a:gd name="adj" fmla="val 7619"/>
            </a:avLst>
          </a:prstGeom>
          <a:solidFill>
            <a:srgbClr val="EAF7F0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5528" y="7772400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완주 조건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95528" y="8138160"/>
            <a:ext cx="595274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정보 확인 → PPE 점검/판정 → 착용 → 최종 확인 → 미니 퀴즈 결과 화면까지 끊김 없이 도달한다.</a:t>
            </a:r>
            <a:endParaRPr lang="en-US" sz="14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rgbClr val="18324A"/>
          </a:solidFill>
          <a:ln w="12700">
            <a:solidFill>
              <a:srgbClr val="1832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FD2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 시나리오 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475488"/>
            <a:ext cx="6263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브리핑 · 이동 · 첫 PPE 점검 진입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02412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0:00 · PPE 룸 전환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49808" y="1408176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사용자에게 현재 공간이 PPE 룸임을 알린다.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49808" y="1755648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작업 전 보호구 확인이 먼저 필요하다는 목적을 설명한다.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49808" y="2103120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화면 중앙 또는 자막 영역에 오늘의 작업 정보를 표시한다.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94360" y="259689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0:15 · 물질 · 위험 · PPE 7종 확인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49808" y="2980944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작업 정보 카드에서 대상 물질과 위험 키워드를 확인한다.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49808" y="3328416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요구 PPE 7종 목록을 차례로 보여준다.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49808" y="3675888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누락 없이 진행할 수 있도록 리스트 상태를 표시한다.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94360" y="416966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0:35 · 진열대 마커 선택 · 텔레포트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49808" y="4553712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진열대 위치 마커를 선택해 이동한다.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49808" y="4901184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아이템 마커는 현재 선택 가능한 PPE만 강조한다.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49808" y="5248656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비활성 기능은 노출하지 않고 현재 학습 단계만 보여준다.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94360" y="574243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0:50 · 장갑 Grip · 눈앞으로 이동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49808" y="6126480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Grip으로 장갑을 잡는다.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49808" y="6473952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장갑을 눈앞 확인 위치로 가져온다.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49808" y="6821424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회전 점검 안내 TTS와 자막을 시작한다.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rgbClr val="18324A"/>
          </a:solidFill>
          <a:ln w="12700">
            <a:solidFill>
              <a:srgbClr val="1832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FD2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 시나리오 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475488"/>
            <a:ext cx="6263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회전 점검 · 정상/결함 판정 · 오류 복구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02412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1:05 · 양손 회전 · 결함 마커 점검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49808" y="1408176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장갑을 회전시키며 손바닥, 손등, 손목 연결부를 확인한다.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49808" y="1755648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결함 후보 위치는 교육모드에서 시각 강조로 표시한다.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49808" y="2103120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충분히 확인하지 않으면 판정 단계로 넘어가지 않도록 한다.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94360" y="259689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1:20 · 정상/결함 판정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49808" y="2980944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Trigger로 정상 판단을 확정한다.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49808" y="3328416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지정 입력으로 결함 PPE 폐기 또는 거부를 처리한다.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49808" y="3675888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판정 결과는 즉시 색상과 TTS로 피드백한다.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94360" y="416966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1:25 · 오류 이유 확인 후 재판정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49808" y="4553712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오답 시 단순 실패 처리하지 않는다.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49808" y="4901184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왜 잘못 판단했는지 짧은 설명을 제공한다.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49808" y="5248656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동일 PPE 또는 정상 PPE 재선택 단계로 되돌린다.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94360" y="574243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1:40 · 정상 좌/우 장갑 선택 · 착용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49808" y="6126480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정상 장갑을 선택하면 착용 연출로 전환한다.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49808" y="6473952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좌우 장갑이 모두 필요한 경우 각각 상태를 기록한다.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49808" y="6821424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착용 완료 후 다음 PPE 점검으로 진행한다.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rgbClr val="18324A"/>
          </a:solidFill>
          <a:ln w="12700">
            <a:solidFill>
              <a:srgbClr val="1832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FD2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 시나리오 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475488"/>
            <a:ext cx="6263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7종 착용 · 최종 착용 확인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1051560" cy="723900"/>
          </a:xfrm>
          <a:prstGeom prst="rect">
            <a:avLst/>
          </a:prstGeom>
          <a:solidFill>
            <a:srgbClr val="18324A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554480" y="1051560"/>
            <a:ext cx="1828800" cy="723900"/>
          </a:xfrm>
          <a:prstGeom prst="rect">
            <a:avLst/>
          </a:prstGeom>
          <a:solidFill>
            <a:srgbClr val="18324A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383280" y="1051560"/>
            <a:ext cx="3657600" cy="723900"/>
          </a:xfrm>
          <a:prstGeom prst="rect">
            <a:avLst/>
          </a:prstGeom>
          <a:solidFill>
            <a:srgbClr val="18324A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내용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02920" y="1775460"/>
            <a:ext cx="1051560" cy="7239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2:20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54480" y="1775460"/>
            <a:ext cx="1828800" cy="7239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방호복 · 장화 · 호흡보호구 점검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1775460"/>
            <a:ext cx="3657600" cy="7239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PPE의 손상, 연결부, 착용 방향을 순서대로 확인한다.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2499360"/>
            <a:ext cx="1051560" cy="7239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2:55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54480" y="2499360"/>
            <a:ext cx="1828800" cy="7239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안전모 · 등지게 점검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3280" y="2499360"/>
            <a:ext cx="3657600" cy="7239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상태와 몸에 밀착되는 정도를 확인한다.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3223260"/>
            <a:ext cx="1051560" cy="7239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3:20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54480" y="3223260"/>
            <a:ext cx="1828800" cy="7239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연결부 테이프 적용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83280" y="3223260"/>
            <a:ext cx="3657600" cy="7239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장갑과 방호복 연결부 틈을 확인하고 테이프 처리한다.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3947160"/>
            <a:ext cx="1051560" cy="7239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3:40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54480" y="3947160"/>
            <a:ext cx="1828800" cy="7239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나머지 PPE 착용 완료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83280" y="3947160"/>
            <a:ext cx="3657600" cy="7239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PPE 착용 상태를 임시 완료로 표시한다.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" y="4671060"/>
            <a:ext cx="1051560" cy="7239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4:00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54480" y="4671060"/>
            <a:ext cx="1828800" cy="7239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착용 확인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383280" y="4671060"/>
            <a:ext cx="3657600" cy="7239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거울 또는 확인 UI로 착용 누락과 틈을 사용자가 다시 본다.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94360" y="5852160"/>
            <a:ext cx="6355080" cy="1828800"/>
          </a:xfrm>
          <a:prstGeom prst="roundRect">
            <a:avLst>
              <a:gd name="adj" fmla="val 4000"/>
            </a:avLst>
          </a:prstGeom>
          <a:solidFill>
            <a:srgbClr val="E8F1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601675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확인의 목적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95528" y="6382512"/>
            <a:ext cx="5952744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모든 PPE가 착용되었는지 확인한다.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연결부와 틈이 남아 있지 않은지 확인한다.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학습자가 자기 상태를 직접 점검하는 경험을 만든다.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최종 확인이 끝나야 미니 퀴즈로 이동한다.</a:t>
            </a:r>
            <a:endParaRPr lang="en-US" sz="14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rgbClr val="18324A"/>
          </a:solidFill>
          <a:ln w="12700">
            <a:solidFill>
              <a:srgbClr val="1832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FD2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 시나리오 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475488"/>
            <a:ext cx="6263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미니 퀴즈 · 결과 요약 · 허브 복귀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02412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4:15 · 미니 퀴즈 3문항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49808" y="1408176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방금 수행한 PPE 착용 기준을 짧은 문제로 확인한다.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49808" y="1755648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교육모드에서는 정답/오답 피드백과 핵심 해설을 제공한다.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49808" y="2103120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문항은 장갑, 방호복, 연결부처럼 사고 가능성이 높은 지점을 우선한다.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94360" y="259689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4:40 · 결과 · 오류 · 핵심 수칙 요약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49808" y="2980944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학습 중 발생한 오답과 재시도 횟수를 요약한다.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49808" y="3328416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가장 중요한 PPE 착용 수칙을 2~3개로 정리한다.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49808" y="3675888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사용자가 어떤 기준을 다시 확인해야 하는지 알려준다.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94360" y="416966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5:00 · 허브 복귀 · 상태 초기화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49808" y="4553712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현재 세션의 PPE 상태를 초기화한다.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49808" y="4901184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다음 시도 또는 모드 선택이 가능하도록 준비한다.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49808" y="5248656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프로토타입 목표는 교육모드 결과 화면까지 도달하는 것이다.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94360" y="574243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 원칙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49808" y="6126480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기억력 시험보다 PPE 착용 판단 기준을 다시 말할 수 있는가에 초점을 둔다.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49808" y="6473952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문항 수는 짧게 유지해 VR 피로감을 줄인다.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rgbClr val="18324A"/>
          </a:solidFill>
          <a:ln w="12700">
            <a:solidFill>
              <a:srgbClr val="1832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FD2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훈련모드 설계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475488"/>
            <a:ext cx="6263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교육모드와 같은 PPE 루트를 최소 안내로 반복한다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6355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1615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훈련모드의 역할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5528" y="1581912"/>
            <a:ext cx="5952744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교육모드에서 배운 PPE 절차를 사용자가 스스로 반복하게 하는 단계다. 상세 해설은 줄이고, 필요한 경우에만 제한 힌트를 제공한다.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2542032"/>
            <a:ext cx="1051560" cy="651510"/>
          </a:xfrm>
          <a:prstGeom prst="rect">
            <a:avLst/>
          </a:prstGeom>
          <a:solidFill>
            <a:srgbClr val="18324A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554480" y="2542032"/>
            <a:ext cx="2834640" cy="651510"/>
          </a:xfrm>
          <a:prstGeom prst="rect">
            <a:avLst/>
          </a:prstGeom>
          <a:solidFill>
            <a:srgbClr val="18324A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흐름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389120" y="2542032"/>
            <a:ext cx="2651760" cy="651510"/>
          </a:xfrm>
          <a:prstGeom prst="rect">
            <a:avLst/>
          </a:prstGeom>
          <a:solidFill>
            <a:srgbClr val="18324A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02920" y="3193542"/>
            <a:ext cx="105156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0:00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54480" y="3193542"/>
            <a:ext cx="283464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· 완료 조건 확인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89120" y="3193542"/>
            <a:ext cx="265176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설명 대신 짧은 목표만 제시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3845052"/>
            <a:ext cx="105156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0:15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54480" y="3845052"/>
            <a:ext cx="283464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강조 없이 진열대로 이동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89120" y="3845052"/>
            <a:ext cx="265176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마커만 제공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4496562"/>
            <a:ext cx="105156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0:30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54480" y="4496562"/>
            <a:ext cx="283464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점검 시작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389120" y="4496562"/>
            <a:ext cx="265176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오답 시 짧은 경고와 재시도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" y="5148072"/>
            <a:ext cx="105156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1:10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54480" y="5148072"/>
            <a:ext cx="283464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나머지 PPE 자율 점검 · 착용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389120" y="5148072"/>
            <a:ext cx="265176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정체 시 제한 힌트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" y="5799582"/>
            <a:ext cx="105156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3:05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554480" y="5799582"/>
            <a:ext cx="283464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착용 확인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389120" y="5799582"/>
            <a:ext cx="265176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누락만 표시하고 해설은 줄임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" y="6451092"/>
            <a:ext cx="105156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3:20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554480" y="6451092"/>
            <a:ext cx="283464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미니 퀴즈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389120" y="6451092"/>
            <a:ext cx="265176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해설은 짧게 제공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02920" y="7102602"/>
            <a:ext cx="105156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3:35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554480" y="7102602"/>
            <a:ext cx="283464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389120" y="7102602"/>
            <a:ext cx="2651760" cy="65151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· 오류 · 힌트 사용 표시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94360" y="8065008"/>
            <a:ext cx="635508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훈련모드는 교육모드와 동일한 PPE 절차를 사용하되, 사용자의 자율 수행을 높이는 방향으로 안내 수준을 낮춘다.</a:t>
            </a:r>
            <a:endParaRPr lang="en-US" sz="145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rgbClr val="18324A"/>
          </a:solidFill>
          <a:ln w="12700">
            <a:solidFill>
              <a:srgbClr val="1832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FD2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테스트모드 설계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475488"/>
            <a:ext cx="6263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힌트 없이 독립 수행을 평가한다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6355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1615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테스트모드의 역할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5528" y="1581912"/>
            <a:ext cx="595274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교육과 훈련을 거친 사용자가 PPE 착용 절차를 독립적으로 수행할 수 있는지 확인하는 평가 단계다.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2423160"/>
            <a:ext cx="6355080" cy="1645920"/>
          </a:xfrm>
          <a:prstGeom prst="roundRect">
            <a:avLst>
              <a:gd name="adj" fmla="val 4444"/>
            </a:avLst>
          </a:prstGeom>
          <a:solidFill>
            <a:srgbClr val="FDECEC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58775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정책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5528" y="2953512"/>
            <a:ext cx="5952744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힌트와 정답 피드백을 차단한다.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제한시간과 제출 조건을 사전에 제시한다.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PPE 정상/결함 판정, 착용 순서, 최종 확인 여부를 평가한다.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점수 · 시간 · 합격 여부 · 항목별 오류를 결과로 공개한다.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4572000"/>
            <a:ext cx="1143000" cy="445770"/>
          </a:xfrm>
          <a:prstGeom prst="rect">
            <a:avLst/>
          </a:prstGeom>
          <a:solidFill>
            <a:srgbClr val="18324A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828800" y="4572000"/>
            <a:ext cx="4937760" cy="445770"/>
          </a:xfrm>
          <a:prstGeom prst="rect">
            <a:avLst/>
          </a:prstGeom>
          <a:solidFill>
            <a:srgbClr val="18324A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흐름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85800" y="5017770"/>
            <a:ext cx="114300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0:00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828800" y="5017770"/>
            <a:ext cx="493776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· 제한시간 · 제출 조건 확인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5463540"/>
            <a:ext cx="114300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0:10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28800" y="5463540"/>
            <a:ext cx="493776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 없이 PPE 룸 시작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5909310"/>
            <a:ext cx="114300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0:30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828800" y="5909310"/>
            <a:ext cx="493776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정상/결함 판정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6355080"/>
            <a:ext cx="114300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1:45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828800" y="6355080"/>
            <a:ext cx="493776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7종 자유 순서 착용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" y="6800850"/>
            <a:ext cx="114300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2:25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828800" y="6800850"/>
            <a:ext cx="493776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착용 확인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" y="7246620"/>
            <a:ext cx="114300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2:50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828800" y="7246620"/>
            <a:ext cx="493776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미니 퀴즈 제출 활성화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5800" y="7692390"/>
            <a:ext cx="114300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3:00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828800" y="7692390"/>
            <a:ext cx="493776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· 시간 · 합격 여부 공개</a:t>
            </a:r>
            <a:endParaRPr lang="en-US" sz="14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rgbClr val="18324A"/>
          </a:solidFill>
          <a:ln w="12700">
            <a:solidFill>
              <a:srgbClr val="1832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FD2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모드별 정책 비교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475488"/>
            <a:ext cx="6263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PPE 절차를 안내 수준만 달리해 운영한다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051560"/>
            <a:ext cx="1143000" cy="849086"/>
          </a:xfrm>
          <a:prstGeom prst="rect">
            <a:avLst/>
          </a:prstGeom>
          <a:solidFill>
            <a:srgbClr val="18324A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554480" y="1051560"/>
            <a:ext cx="1828800" cy="849086"/>
          </a:xfrm>
          <a:prstGeom prst="rect">
            <a:avLst/>
          </a:prstGeom>
          <a:solidFill>
            <a:srgbClr val="18324A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383280" y="1051560"/>
            <a:ext cx="1828800" cy="849086"/>
          </a:xfrm>
          <a:prstGeom prst="rect">
            <a:avLst/>
          </a:prstGeom>
          <a:solidFill>
            <a:srgbClr val="18324A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훈련모드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212080" y="1051560"/>
            <a:ext cx="1938528" cy="849086"/>
          </a:xfrm>
          <a:prstGeom prst="rect">
            <a:avLst/>
          </a:prstGeom>
          <a:solidFill>
            <a:srgbClr val="18324A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테스트모드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11480" y="1900646"/>
            <a:ext cx="11430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54480" y="1900646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방법 학습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1900646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연습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12080" y="1900646"/>
            <a:ext cx="1938528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 수행 평가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" y="2749731"/>
            <a:ext cx="11430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54480" y="2749731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TTS · 자막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2749731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짧은 지시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12080" y="2749731"/>
            <a:ext cx="1938528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안내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" y="3598817"/>
            <a:ext cx="11430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힌트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54480" y="3598817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충분히 제공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83280" y="3598817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정체 시 제한 제공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12080" y="3598817"/>
            <a:ext cx="1938528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차단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11480" y="4447903"/>
            <a:ext cx="11430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오답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54480" y="4447903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이유 설명 후 재판정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383280" y="4447903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기록 후 재시도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212080" y="4447903"/>
            <a:ext cx="1938528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결과에 반영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11480" y="5296989"/>
            <a:ext cx="11430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 강조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554480" y="5296989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결함 후보 강조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383280" y="5296989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마커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212080" y="5296989"/>
            <a:ext cx="1938528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UI만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11480" y="6146074"/>
            <a:ext cx="11430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554480" y="6146074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수칙 요약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383280" y="6146074"/>
            <a:ext cx="1828800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· 오류 · 힌트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212080" y="6146074"/>
            <a:ext cx="1938528" cy="84908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· 합격 여부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94360" y="7360920"/>
            <a:ext cx="6355080" cy="1097280"/>
          </a:xfrm>
          <a:prstGeom prst="roundRect">
            <a:avLst>
              <a:gd name="adj" fmla="val 6667"/>
            </a:avLst>
          </a:prstGeom>
          <a:solidFill>
            <a:srgbClr val="E8F1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5528" y="752551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원칙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95528" y="7891272"/>
            <a:ext cx="595274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모드가 달라도 PPE 항목, 상태 흐름, 판정 기준은 동일하게 유지한다. 차이는 안내, 힌트, 오류 처리, 결과 공개 방식에 둔다.</a:t>
            </a:r>
            <a:endParaRPr lang="en-US" sz="14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rgbClr val="18324A"/>
          </a:solidFill>
          <a:ln w="12700">
            <a:solidFill>
              <a:srgbClr val="1832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FD2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 선정 기준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475488"/>
            <a:ext cx="6263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유료 음성 제작이 포함되므로 근거와 예산을 명확히 한다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63550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1615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TTS가 필요한 이유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5528" y="1581912"/>
            <a:ext cx="5952744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VR 초보 사용자가 화면 텍스트만 보지 않고 행동에 집중하게 한다.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PPE 점검 이유와 오류 복구를 즉시 설명한다.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교육모드의 상세 안내, 훈련모드의 짧은 지시, 테스트모드의 차단 정책을 음성 톤으로 구분할 수 있다.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자막 · 시각 강조와 동기화해 학습 부담을 줄인다.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3474720"/>
            <a:ext cx="6355080" cy="1874520"/>
          </a:xfrm>
          <a:prstGeom prst="roundRect">
            <a:avLst>
              <a:gd name="adj" fmla="val 3902"/>
            </a:avLst>
          </a:prstGeom>
          <a:solidFill>
            <a:srgbClr val="E8F1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363931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선정 기준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5528" y="4005072"/>
            <a:ext cx="5952744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한국어 발음의 자연스러움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안전교육에 맞는 차분함과 명료성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긴 안내문에서도 억양이 과장되지 않을 것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파일 단위 재생성 및 수정이 쉬울 것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상업/발표/프로토타입 사용 범위를 검토할 수 있을 것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" y="5715000"/>
            <a:ext cx="6355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587959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톤앤매너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95528" y="6245352"/>
            <a:ext cx="5952744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안내 60% · 차분한 온화함 20% · 아나운서 명료성 20%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위험을 겁주기보다 사용자가 침착하게 절차를 따라가도록 돕는 목소리를 목표로 한다.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rgbClr val="18324A"/>
          </a:solidFill>
          <a:ln w="12700">
            <a:solidFill>
              <a:srgbClr val="1832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FD2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 모델 비교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475488"/>
            <a:ext cx="6263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박현미 모델을 최종 후보로 계획한다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8912" y="1097280"/>
            <a:ext cx="1417320" cy="868680"/>
          </a:xfrm>
          <a:prstGeom prst="rect">
            <a:avLst/>
          </a:prstGeom>
          <a:solidFill>
            <a:srgbClr val="18324A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856232" y="1097280"/>
            <a:ext cx="2651760" cy="868680"/>
          </a:xfrm>
          <a:prstGeom prst="rect">
            <a:avLst/>
          </a:prstGeom>
          <a:solidFill>
            <a:srgbClr val="18324A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07992" y="1097280"/>
            <a:ext cx="2624328" cy="868680"/>
          </a:xfrm>
          <a:prstGeom prst="rect">
            <a:avLst/>
          </a:prstGeom>
          <a:solidFill>
            <a:srgbClr val="18324A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 포인트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38912" y="1965960"/>
            <a:ext cx="1417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ElevenLabs 박현미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856232" y="1965960"/>
            <a:ext cx="2651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 자연스러움, 차분한 안내 톤, 파일 단위 제작에 적합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07992" y="1965960"/>
            <a:ext cx="26243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유료 크레딧, 라이선스, 수정 재생성 비용 확인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8912" y="2834640"/>
            <a:ext cx="1417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NAVER CLOVA Dubbing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56232" y="2834640"/>
            <a:ext cx="2651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서비스 접근성, 안정적인 한국어 발음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07992" y="2834640"/>
            <a:ext cx="26243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원하는 톤의 세밀한 조정 가능성 확인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8912" y="3703320"/>
            <a:ext cx="1417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타입캐스트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856232" y="3703320"/>
            <a:ext cx="2651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 표현과 캐릭터형 음성 선택지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07992" y="3703320"/>
            <a:ext cx="26243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안전교육에는 과한 감정 연기 여부 확인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4360" y="5074920"/>
            <a:ext cx="6355080" cy="1920240"/>
          </a:xfrm>
          <a:prstGeom prst="roundRect">
            <a:avLst>
              <a:gd name="adj" fmla="val 3810"/>
            </a:avLst>
          </a:prstGeom>
          <a:solidFill>
            <a:srgbClr val="EAF7F0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523951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박현미 모델인가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95528" y="5605272"/>
            <a:ext cx="5952744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VR 안전교육에서 필요한 자연스러운 한국어 안내에 적합하다.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차분하지만 너무 딱딱하지 않은 톤으로 초보 사용자에게 부담이 적다.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문장 단위 파일을 많이 제작해야 하므로 재생성 · 수정 관리가 중요하다.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자막과 함께 사용할 때 과도한 감정 연기보다 명료성이 중요하다.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94360" y="7360920"/>
            <a:ext cx="63550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" y="752551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 전 확인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95528" y="7891272"/>
            <a:ext cx="595274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결제 전에는 라이선스 조건, 상업적 사용 범위, 크레딧 정책, 음성 변경 가능성을 다시 확인한다.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rgbClr val="18324A"/>
          </a:solidFill>
          <a:ln w="12700">
            <a:solidFill>
              <a:srgbClr val="1832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FD2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 예산과 제작량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475488"/>
            <a:ext cx="6263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 검토가 가능하도록 비용 근거를 수치로 제시한다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6355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1615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단계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5528" y="1581912"/>
            <a:ext cx="5952744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무료 10,000 크레딧으로 발음 · 톤 · 문장 길이 테스트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컨트롤러 안내, 장갑 점검, 오류 복구 문장부터 샘플 제작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자막과 실제 VR 동작 타이밍을 맞춰본 뒤 본 제작 여부 결정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2788920"/>
            <a:ext cx="6355080" cy="1645920"/>
          </a:xfrm>
          <a:prstGeom prst="roundRect">
            <a:avLst>
              <a:gd name="adj" fmla="val 4444"/>
            </a:avLst>
          </a:prstGeom>
          <a:solidFill>
            <a:srgbClr val="E8F1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95351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제작 예산 계획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5528" y="3319272"/>
            <a:ext cx="5952744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Creator $22 플랜 검토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첫 달 할인 기준 $11 수준으로 약 15,000원 예산 가정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월 단위 결제 전 실제 필요 문장 수와 수정 가능성을 계산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구매 후 변경분 발생 시 추가 생성량을 별도 관리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" y="4800600"/>
            <a:ext cx="63550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496519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제작량 산정 예시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95528" y="5330952"/>
            <a:ext cx="5952744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121,000 크레딧 ÷ 평균 250자 ≈ 약 484개 문장 파일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제작 수량은 문장 길이, 재생성 횟수, 수정본 제작량에 따라 달라질 수 있다.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" y="6446520"/>
            <a:ext cx="6355080" cy="1097280"/>
          </a:xfrm>
          <a:prstGeom prst="roundRect">
            <a:avLst>
              <a:gd name="adj" fmla="val 6667"/>
            </a:avLst>
          </a:prstGeom>
          <a:solidFill>
            <a:srgbClr val="FFF4DE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661111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 관리 원칙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95528" y="6976872"/>
            <a:ext cx="595274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TTS는 전체를 한 번에 생성하지 않는다. 교육모드 핵심 루트 문장부터 제작하고, 발음과 타이밍을 확인한 뒤 모드별 문장을 단계적으로 제작한다.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rgbClr val="18324A"/>
          </a:solidFill>
          <a:ln w="12700">
            <a:solidFill>
              <a:srgbClr val="1832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FD2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 파일 · 이벤트 관리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475488"/>
            <a:ext cx="6263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 · 파일 · 이벤트 단위로 관리한다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6355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1615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 기준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5528" y="1581912"/>
            <a:ext cx="595274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Assets/Audio/Voice/PPE/EDU/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Assets/Audio/Voice/PPE/TRN/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Assets/Audio/Voice/PPE/TST/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2423160"/>
            <a:ext cx="6355080" cy="1508760"/>
          </a:xfrm>
          <a:prstGeom prst="roundRect">
            <a:avLst>
              <a:gd name="adj" fmla="val 4848"/>
            </a:avLst>
          </a:prstGeom>
          <a:solidFill>
            <a:srgbClr val="E8F1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58775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네이밍 규칙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5528" y="2953512"/>
            <a:ext cx="5952744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VO_[시나리오]_[모드]_[순번]_[이벤트]_[버전].ogg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VO_PPE_EDU_010_GLVCHK_v01.ogg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VO_PPE_EDU_011_GLVERR_v01.ogg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4434840"/>
            <a:ext cx="1463040" cy="556260"/>
          </a:xfrm>
          <a:prstGeom prst="rect">
            <a:avLst/>
          </a:prstGeom>
          <a:solidFill>
            <a:srgbClr val="18324A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2011680" y="4434840"/>
            <a:ext cx="4983480" cy="556260"/>
          </a:xfrm>
          <a:prstGeom prst="rect">
            <a:avLst/>
          </a:prstGeom>
          <a:solidFill>
            <a:srgbClr val="18324A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문장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48640" y="4991100"/>
            <a:ext cx="1463040" cy="5562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001_TRG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011680" y="4991100"/>
            <a:ext cx="4983480" cy="5562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오른손 검지를 천천히 당겨보세요.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5547360"/>
            <a:ext cx="1463040" cy="5562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002_TRGOK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011680" y="5547360"/>
            <a:ext cx="4983480" cy="5562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입력이 정상 인식되었습니다.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103620"/>
            <a:ext cx="1463040" cy="5562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010_GLVCHK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011680" y="6103620"/>
            <a:ext cx="4983480" cy="5562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장갑의 찢김과 오염을 확인하세요.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659880"/>
            <a:ext cx="1463040" cy="5562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011_GLVERR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011680" y="6659880"/>
            <a:ext cx="4983480" cy="5562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손상된 장갑은 폐기하고 정상 장갑을 다시 선택하세요.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7216140"/>
            <a:ext cx="1463040" cy="5562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020_WEAROK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011680" y="7216140"/>
            <a:ext cx="4983480" cy="5562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장갑 착용이 완료되었습니다. 다음 보호구를 확인합니다.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94360" y="8092440"/>
            <a:ext cx="6355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수정이 필요한 경우 파일명 버전을 올려 기존 파일과 구분한다.</a:t>
            </a:r>
            <a:endParaRPr lang="en-US" sz="14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rgbClr val="18324A"/>
          </a:solidFill>
          <a:ln w="12700">
            <a:solidFill>
              <a:srgbClr val="1832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FD2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 이벤트 맵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475488"/>
            <a:ext cx="6263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 완주 루트에 필요한 음성 범위를 먼저 제작한다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1463040" cy="548640"/>
          </a:xfrm>
          <a:prstGeom prst="rect">
            <a:avLst/>
          </a:prstGeom>
          <a:solidFill>
            <a:srgbClr val="18324A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2057400" y="1051560"/>
            <a:ext cx="4892040" cy="548640"/>
          </a:xfrm>
          <a:prstGeom prst="rect">
            <a:avLst/>
          </a:prstGeom>
          <a:solidFill>
            <a:srgbClr val="18324A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범위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1463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057400" y="1600200"/>
            <a:ext cx="4892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환영 · 교육 목표 · 컨트롤러 안내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148840"/>
            <a:ext cx="1463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057400" y="2148840"/>
            <a:ext cx="4892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정보 · 위험 · 요구 PPE 확인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2697480"/>
            <a:ext cx="1463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MOVE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057400" y="2697480"/>
            <a:ext cx="4892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진열대 이동 · 마커 선택 안내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3246120"/>
            <a:ext cx="1463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CHECK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057400" y="3246120"/>
            <a:ext cx="4892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잡기 · 회전 · 결함 포인트 점검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3794760"/>
            <a:ext cx="1463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DECISION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057400" y="3794760"/>
            <a:ext cx="4892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정상/결함 판정 · 오답 이유 설명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4343400"/>
            <a:ext cx="1463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WEAR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057400" y="4343400"/>
            <a:ext cx="4892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착용 처리 · 다음 PPE 진행 안내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4360" y="4892040"/>
            <a:ext cx="1463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057400" y="4892040"/>
            <a:ext cx="4892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거울/최종 착용 확인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4360" y="5440680"/>
            <a:ext cx="1463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QUIZ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057400" y="5440680"/>
            <a:ext cx="4892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안내 · 결과 요약 · 복귀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94360" y="6355080"/>
            <a:ext cx="6355080" cy="1737360"/>
          </a:xfrm>
          <a:prstGeom prst="roundRect">
            <a:avLst>
              <a:gd name="adj" fmla="val 4211"/>
            </a:avLst>
          </a:prstGeom>
          <a:solidFill>
            <a:srgbClr val="EAF7F0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651967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길이 기준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95528" y="6885432"/>
            <a:ext cx="5952744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행동을 막지 않도록 1문장 4~8초를 기본으로 한다.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한 화면에서 긴 설명이 나오면 자막과 음성을 분리한다.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오류 해설은 “무엇이 틀렸는지 → 어떻게 고칠지” 순서로 말한다.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테스트모드에서는 정답 피드백 음성을 차단한다.</a:t>
            </a:r>
            <a:endParaRPr lang="en-US" sz="14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rgbClr val="18324A"/>
          </a:solidFill>
          <a:ln w="12700">
            <a:solidFill>
              <a:srgbClr val="1832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FD2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 스크립트 샘플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475488"/>
            <a:ext cx="6263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 길이와 교육 톤을 사전에 맞춘다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024128"/>
            <a:ext cx="1234440" cy="891540"/>
          </a:xfrm>
          <a:prstGeom prst="rect">
            <a:avLst/>
          </a:prstGeom>
          <a:solidFill>
            <a:srgbClr val="18324A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645920" y="1024128"/>
            <a:ext cx="5532120" cy="891540"/>
          </a:xfrm>
          <a:prstGeom prst="rect">
            <a:avLst/>
          </a:prstGeom>
          <a:solidFill>
            <a:srgbClr val="18324A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 문장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11480" y="1915668"/>
            <a:ext cx="123444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룸 진입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45920" y="1915668"/>
            <a:ext cx="553212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지금부터 작업 전 보호구 착용 교육을 시작합니다. 안내를 듣고 차례대로 진행해 주세요.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2807208"/>
            <a:ext cx="123444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정보 확인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45920" y="2807208"/>
            <a:ext cx="553212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필요한 보호구는 방호복, 장갑, 장화, 호흡보호구, 안전모, 등지게, 테이프입니다.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" y="3698748"/>
            <a:ext cx="123444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장갑 점검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45920" y="3698748"/>
            <a:ext cx="553212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장갑을 잡고 천천히 돌려보세요. 손바닥과 손목 연결부에 찢김이나 오염이 있는지 확인합니다.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" y="4590288"/>
            <a:ext cx="123444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오답 해설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45920" y="4590288"/>
            <a:ext cx="553212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장갑은 손목 부분에 손상이 있습니다. 손상된 장갑은 착용하지 않고 정상 장갑을 다시 선택해야 합니다.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1480" y="5481828"/>
            <a:ext cx="123444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착용 완료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45920" y="5481828"/>
            <a:ext cx="553212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장갑 착용이 완료되었습니다. 다음 보호구를 확인하겠습니다.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" y="6373368"/>
            <a:ext cx="123444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확인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645920" y="6373368"/>
            <a:ext cx="553212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거울을 보며 모든 보호구가 빠짐없이 착용되었는지 확인하세요.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11480" y="7264908"/>
            <a:ext cx="123444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 안내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45920" y="7264908"/>
            <a:ext cx="553212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마지막으로 핵심 수칙을 확인하는 짧은 퀴즈를 진행합니다.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rgbClr val="18324A"/>
          </a:solidFill>
          <a:ln w="12700">
            <a:solidFill>
              <a:srgbClr val="1832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FD2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구조 계획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475488"/>
            <a:ext cx="6263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PPE 코어에 모드 정책을 연결한다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234440"/>
            <a:ext cx="6355080" cy="658368"/>
          </a:xfrm>
          <a:prstGeom prst="roundRect">
            <a:avLst>
              <a:gd name="adj" fmla="val 11111"/>
            </a:avLst>
          </a:prstGeom>
          <a:solidFill>
            <a:srgbClr val="E8F1FF"/>
          </a:solidFill>
          <a:ln w="12700">
            <a:solidFill>
              <a:srgbClr val="246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44752"/>
            <a:ext cx="5989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Boot / Hub → PPE Scene → ModeProfile → PPE Core → Guidance → Result UI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1874520" cy="666206"/>
          </a:xfrm>
          <a:prstGeom prst="rect">
            <a:avLst/>
          </a:prstGeom>
          <a:solidFill>
            <a:srgbClr val="18324A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2468880" y="2514600"/>
            <a:ext cx="4480560" cy="666206"/>
          </a:xfrm>
          <a:prstGeom prst="rect">
            <a:avLst/>
          </a:prstGeom>
          <a:solidFill>
            <a:srgbClr val="18324A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94360" y="3180806"/>
            <a:ext cx="1874520" cy="66620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PPEController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468880" y="3180806"/>
            <a:ext cx="4480560" cy="66620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점검 · 판정 · 착용 상태 관리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3847011"/>
            <a:ext cx="1874520" cy="66620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ModeProfile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68880" y="3847011"/>
            <a:ext cx="4480560" cy="66620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교육/훈련/테스트 정책 분리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4513217"/>
            <a:ext cx="1874520" cy="66620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GuidancePresenter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468880" y="4513217"/>
            <a:ext cx="4480560" cy="66620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HUD · Voice · 자막 · 강조 관리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5179423"/>
            <a:ext cx="1874520" cy="66620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InteractionGate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468880" y="5179423"/>
            <a:ext cx="4480560" cy="66620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선행조건과 잘못된 입력 차단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5845629"/>
            <a:ext cx="1874520" cy="66620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ResultScreen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468880" y="5845629"/>
            <a:ext cx="4480560" cy="66620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모드별 결과 화면 표시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4360" y="6511834"/>
            <a:ext cx="1874520" cy="66620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SessionReset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468880" y="6511834"/>
            <a:ext cx="4480560" cy="66620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허브 복귀 · 재시도 시 상태 초기화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94360" y="7543800"/>
            <a:ext cx="6355080" cy="1051560"/>
          </a:xfrm>
          <a:prstGeom prst="roundRect">
            <a:avLst>
              <a:gd name="adj" fmla="val 6957"/>
            </a:avLst>
          </a:prstGeom>
          <a:solidFill>
            <a:srgbClr val="E8F1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5528" y="770839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원칙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95528" y="8074152"/>
            <a:ext cx="595274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씬을 모드별로 복제하기보다 공통 PPE 코어를 두고, 안내 수준과 결과 정책만 바꾸는 방식으로 중복과 오류 위험을 줄인다.</a:t>
            </a:r>
            <a:endParaRPr lang="en-US" sz="14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rgbClr val="18324A"/>
          </a:solidFill>
          <a:ln w="12700">
            <a:solidFill>
              <a:srgbClr val="1832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FD2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QA와 인수 기준 계획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475488"/>
            <a:ext cx="6263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완료는 기능 수가 아니라 반복 가능한 완주로 판단한다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1645920" cy="764177"/>
          </a:xfrm>
          <a:prstGeom prst="rect">
            <a:avLst/>
          </a:prstGeom>
          <a:solidFill>
            <a:srgbClr val="18324A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영역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2148840" y="1051560"/>
            <a:ext cx="4892040" cy="764177"/>
          </a:xfrm>
          <a:prstGeom prst="rect">
            <a:avLst/>
          </a:prstGeom>
          <a:solidFill>
            <a:srgbClr val="18324A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기준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02920" y="1815737"/>
            <a:ext cx="1645920" cy="764177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 완주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48840" y="1815737"/>
            <a:ext cx="4892040" cy="764177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룸 진입부터 미니 퀴즈 결과까지 2회 이상 중단 없이 진행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579914"/>
            <a:ext cx="1645920" cy="764177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48840" y="2579914"/>
            <a:ext cx="4892040" cy="764177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Grab · Ray · Trigger · Poke 입력이 단계별로 정상 동작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3344091"/>
            <a:ext cx="1645920" cy="764177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48840" y="3344091"/>
            <a:ext cx="4892040" cy="764177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오답 후 재판정, 착용 후 다음 단계, 허브 복귀 시 상태 꼬임 없음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4108269"/>
            <a:ext cx="1645920" cy="764177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148840" y="4108269"/>
            <a:ext cx="4892040" cy="764177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· 자막 · 시각 강조의 이벤트 동기화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4872446"/>
            <a:ext cx="1645920" cy="764177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Quest 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148840" y="4872446"/>
            <a:ext cx="4892040" cy="764177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APK 실행, 양안 렌더링, 컨트롤러 인식, 크래시 없음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5636623"/>
            <a:ext cx="1645920" cy="764177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148840" y="5636623"/>
            <a:ext cx="4892040" cy="764177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P0: 완주 불가 / P1: 주요 기능 오동작 / P2: 표현 품질 문제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4360" y="6812280"/>
            <a:ext cx="6355080" cy="1097280"/>
          </a:xfrm>
          <a:prstGeom prst="roundRect">
            <a:avLst>
              <a:gd name="adj" fmla="val 6667"/>
            </a:avLst>
          </a:prstGeom>
          <a:solidFill>
            <a:srgbClr val="EAF7F0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" y="697687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철학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95528" y="7342632"/>
            <a:ext cx="595274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 단계에서는 새로운 기능 수보다 “한 번 시작한 교육모드를 끝까지 안정적으로 완료할 수 있는가”를 우선한다.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rgbClr val="18324A"/>
          </a:solidFill>
          <a:ln w="12700">
            <a:solidFill>
              <a:srgbClr val="1832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FD2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계획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475488"/>
            <a:ext cx="6263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전 계획 기준으로 준비할 산출물을 정의한다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63550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6187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산출물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5528" y="1627632"/>
            <a:ext cx="5952744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상세 기획서 v0.7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PPE 교육모드 유저 시나리오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교육 · 훈련 · 테스트 모드 정책표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TTS 선정 근거 · 예산 · 제작 규칙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QA 기준표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3337560"/>
            <a:ext cx="6355080" cy="1828800"/>
          </a:xfrm>
          <a:prstGeom prst="roundRect">
            <a:avLst>
              <a:gd name="adj" fmla="val 4000"/>
            </a:avLst>
          </a:prstGeom>
          <a:solidFill>
            <a:srgbClr val="E8F1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350215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 산출물 계획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5528" y="3867912"/>
            <a:ext cx="5952744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Unity 원본 프로젝트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Meta Quest 2 APK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교육모드 완주 루트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TTS 파일과 자막 문장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QA 체크리스트와 오류 기록 양식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" y="5532120"/>
            <a:ext cx="6355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569671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관리 원칙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95528" y="6062472"/>
            <a:ext cx="5952744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기획서는 개발 시작 전 계획과 기준만 기록한다. 실제 개발 중 변경 사항과 구현 결과는 이 문서에 포함하지 않는다.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7452360"/>
            <a:ext cx="635508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46B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기획서의 역할: “무엇을 만들 계획인가”를 충분히 자세하게 설명하는 문서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713232"/>
          </a:xfrm>
          <a:prstGeom prst="rect">
            <a:avLst/>
          </a:prstGeom>
          <a:solidFill>
            <a:srgbClr val="18324A"/>
          </a:solidFill>
          <a:ln w="12700">
            <a:solidFill>
              <a:srgbClr val="1832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FD2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12801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전 체크리스트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475488"/>
            <a:ext cx="6263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 완주 구현 전에 확인할 기준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1325880" cy="744583"/>
          </a:xfrm>
          <a:prstGeom prst="rect">
            <a:avLst/>
          </a:prstGeom>
          <a:solidFill>
            <a:srgbClr val="18324A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828800" y="1051560"/>
            <a:ext cx="5212080" cy="744583"/>
          </a:xfrm>
          <a:prstGeom prst="rect">
            <a:avLst/>
          </a:prstGeom>
          <a:solidFill>
            <a:srgbClr val="18324A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내용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02920" y="1796143"/>
            <a:ext cx="1325880" cy="74458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828800" y="1796143"/>
            <a:ext cx="5212080" cy="74458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 시작, PPE 점검, 착용, 최종 확인, 퀴즈 흐름이 정리되어 있는가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540726"/>
            <a:ext cx="1325880" cy="74458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항목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28800" y="2540726"/>
            <a:ext cx="5212080" cy="74458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7종 PPE의 점검 포인트와 오류 상황이 정리되어 있는가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3285309"/>
            <a:ext cx="1325880" cy="74458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조작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28800" y="3285309"/>
            <a:ext cx="5212080" cy="74458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Trigger, Grip, B, A, Poke의 역할이 겹치지 않는가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4029891"/>
            <a:ext cx="1325880" cy="74458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828800" y="4029891"/>
            <a:ext cx="5212080" cy="74458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이벤트, 파일명, 예산, 샘플 문장이 준비되어 있는가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4774474"/>
            <a:ext cx="1325880" cy="74458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28800" y="4774474"/>
            <a:ext cx="5212080" cy="74458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VR 초보자가 현재 해야 할 행동을 바로 알 수 있는가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5519057"/>
            <a:ext cx="1325880" cy="74458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828800" y="5519057"/>
            <a:ext cx="5212080" cy="74458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 완주 기준과 P0/P1/P2 기준이 명확한가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4360" y="6720840"/>
            <a:ext cx="6355080" cy="1188720"/>
          </a:xfrm>
          <a:prstGeom prst="roundRect">
            <a:avLst>
              <a:gd name="adj" fmla="val 6154"/>
            </a:avLst>
          </a:prstGeom>
          <a:solidFill>
            <a:srgbClr val="FFF4DE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" y="688543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착수 기준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95528" y="7251192"/>
            <a:ext cx="595274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기획서에서 정한 범위 밖 기능을 중간에 추가하지 않는다. 우선 교육모드 완주 루트를 안정적으로 만드는 것을 기준으로 작업을 시작한다.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0401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화학물질 안전훈련 VR · PPE 착용 교육 상세기획서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6355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6B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TAKEAWAY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635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기획의 결론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635508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514600"/>
            <a:ext cx="5715000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 착용 교육을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· 반복 · 평가가 가능한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VR 교육 구조로 설계한다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94360" y="5257800"/>
            <a:ext cx="6355080" cy="868680"/>
          </a:xfrm>
          <a:prstGeom prst="roundRect">
            <a:avLst>
              <a:gd name="adj" fmla="val 8421"/>
            </a:avLst>
          </a:prstGeom>
          <a:solidFill>
            <a:srgbClr val="E8F1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542239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 구현 목표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5528" y="5788152"/>
            <a:ext cx="5952744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 한 루트를 끝까지 완주할 수 있게 만드는 것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6446520"/>
            <a:ext cx="63550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6611112"/>
            <a:ext cx="5952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3모드 기획 방향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5528" y="6976872"/>
            <a:ext cx="5952744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교육모드는 상세 안내로 학습하고, 훈련모드는 같은 루트를 반복 연습하며, 테스트모드는 힌트 없이 독립 수행을 평가하도록 설계한다.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40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3698</Words>
  <Application>Microsoft Office PowerPoint</Application>
  <PresentationFormat>사용자 지정</PresentationFormat>
  <Paragraphs>698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3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화학물질 안전훈련 VR 상세기획서 개발 전 계획 기준</dc:title>
  <dc:subject>화학물질 안전훈련 VR PPE 상세기획서</dc:subject>
  <dc:creator>OpenAI</dc:creator>
  <cp:lastModifiedBy>Jin young Choi</cp:lastModifiedBy>
  <cp:revision>9</cp:revision>
  <dcterms:created xsi:type="dcterms:W3CDTF">2026-08-13T18:42:01Z</dcterms:created>
  <dcterms:modified xsi:type="dcterms:W3CDTF">2026-08-14T16:08:53Z</dcterms:modified>
</cp:coreProperties>
</file>